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1" r:id="rId1"/>
  </p:sldMasterIdLst>
  <p:notesMasterIdLst>
    <p:notesMasterId r:id="rId33"/>
  </p:notesMasterIdLst>
  <p:handoutMasterIdLst>
    <p:handoutMasterId r:id="rId34"/>
  </p:handoutMasterIdLst>
  <p:sldIdLst>
    <p:sldId id="256" r:id="rId2"/>
    <p:sldId id="283" r:id="rId3"/>
    <p:sldId id="280" r:id="rId4"/>
    <p:sldId id="284" r:id="rId5"/>
    <p:sldId id="285" r:id="rId6"/>
    <p:sldId id="281" r:id="rId7"/>
    <p:sldId id="282" r:id="rId8"/>
    <p:sldId id="279" r:id="rId9"/>
    <p:sldId id="257" r:id="rId10"/>
    <p:sldId id="258" r:id="rId11"/>
    <p:sldId id="286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8" r:id="rId30"/>
    <p:sldId id="276" r:id="rId31"/>
    <p:sldId id="277" r:id="rId32"/>
  </p:sldIdLst>
  <p:sldSz cx="15243175" cy="8572500"/>
  <p:notesSz cx="6858000" cy="9144000"/>
  <p:embeddedFontLst>
    <p:embeddedFont>
      <p:font typeface="Michroma" pitchFamily="2" charset="0"/>
      <p:regular r:id="rId35"/>
    </p:embeddedFont>
    <p:embeddedFont>
      <p:font typeface="Montserrat" panose="00000500000000000000" pitchFamily="2" charset="0"/>
      <p:regular r:id="rId36"/>
      <p:bold r:id="rId37"/>
      <p:italic r:id="rId38"/>
      <p:boldItalic r:id="rId3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CC2222"/>
    <a:srgbClr val="757575"/>
    <a:srgbClr val="18232B"/>
    <a:srgbClr val="212F3B"/>
    <a:srgbClr val="19242D"/>
    <a:srgbClr val="22303C"/>
    <a:srgbClr val="959595"/>
    <a:srgbClr val="252525"/>
    <a:srgbClr val="2433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8" autoAdjust="0"/>
    <p:restoredTop sz="95020" autoAdjust="0"/>
  </p:normalViewPr>
  <p:slideViewPr>
    <p:cSldViewPr snapToGrid="0">
      <p:cViewPr varScale="1">
        <p:scale>
          <a:sx n="55" d="100"/>
          <a:sy n="55" d="100"/>
        </p:scale>
        <p:origin x="1853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4435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96CE4C-9F14-2815-AEB7-4D09F1B7AA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9073D0-026F-BFE1-B591-A807D0AAAF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604CD-2240-4EBE-9126-6945D1D1A70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00D89D-4AA0-2A37-1E0D-80A03EDD56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7FEBEE-A1FC-AB32-CCF6-3214D298447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C00DCE-3A85-48EA-9C51-D9C6CDABD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816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C5B0E-CBBD-4BCC-A89C-C962C55D44B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51A5FB-2955-46A8-862A-9CF2CD83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04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2896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1448" algn="l" defTabSz="1142896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2896" algn="l" defTabSz="1142896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14346" algn="l" defTabSz="1142896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85794" algn="l" defTabSz="1142896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57244" algn="l" defTabSz="1142896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28691" algn="l" defTabSz="1142896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00140" algn="l" defTabSz="1142896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71588" algn="l" defTabSz="1142896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7E97B583-C51E-0DAB-48F7-025F509089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397" y="1402954"/>
            <a:ext cx="11432381" cy="29845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5397" y="4624467"/>
            <a:ext cx="11432381" cy="2069703"/>
          </a:xfrm>
        </p:spPr>
        <p:txBody>
          <a:bodyPr/>
          <a:lstStyle>
            <a:lvl1pPr marL="0" indent="0" algn="ctr">
              <a:buNone/>
              <a:defRPr sz="3000"/>
            </a:lvl1pPr>
            <a:lvl2pPr marL="571500" indent="0" algn="ctr">
              <a:buNone/>
              <a:defRPr sz="2500"/>
            </a:lvl2pPr>
            <a:lvl3pPr marL="1143000" indent="0" algn="ctr">
              <a:buNone/>
              <a:defRPr sz="2250"/>
            </a:lvl3pPr>
            <a:lvl4pPr marL="1714500" indent="0" algn="ctr">
              <a:buNone/>
              <a:defRPr sz="2000"/>
            </a:lvl4pPr>
            <a:lvl5pPr marL="2286000" indent="0" algn="ctr">
              <a:buNone/>
              <a:defRPr sz="2000"/>
            </a:lvl5pPr>
            <a:lvl6pPr marL="2857500" indent="0" algn="ctr">
              <a:buNone/>
              <a:defRPr sz="2000"/>
            </a:lvl6pPr>
            <a:lvl7pPr marL="3429000" indent="0" algn="ctr">
              <a:buNone/>
              <a:defRPr sz="2000"/>
            </a:lvl7pPr>
            <a:lvl8pPr marL="4000500" indent="0" algn="ctr">
              <a:buNone/>
              <a:defRPr sz="2000"/>
            </a:lvl8pPr>
            <a:lvl9pPr marL="45720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E9A6104-7EC3-CA94-0CF2-C26B8E1612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2/9/2026</a:t>
            </a:fld>
            <a:endParaRPr lang="en-US" sz="140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4ACEE84-A045-F1FB-32E7-10215CFCC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A45262B-88B9-01FF-0F03-AC39B3A4E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42585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7E97B583-C51E-0DAB-48F7-025F509089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7969" y="1051560"/>
            <a:ext cx="8202712" cy="3780674"/>
          </a:xfrm>
        </p:spPr>
        <p:txBody>
          <a:bodyPr anchor="b">
            <a:normAutofit/>
          </a:bodyPr>
          <a:lstStyle>
            <a:lvl1pPr algn="l">
              <a:defRPr sz="6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7969" y="5054007"/>
            <a:ext cx="8202712" cy="2124033"/>
          </a:xfr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3000" spc="-30" baseline="0"/>
            </a:lvl1pPr>
            <a:lvl2pPr marL="571500" indent="0" algn="ctr">
              <a:buNone/>
              <a:defRPr sz="2500"/>
            </a:lvl2pPr>
            <a:lvl3pPr marL="1143000" indent="0" algn="ctr">
              <a:buNone/>
              <a:defRPr sz="2250"/>
            </a:lvl3pPr>
            <a:lvl4pPr marL="1714500" indent="0" algn="ctr">
              <a:buNone/>
              <a:defRPr sz="2000"/>
            </a:lvl4pPr>
            <a:lvl5pPr marL="2286000" indent="0" algn="ctr">
              <a:buNone/>
              <a:defRPr sz="2000"/>
            </a:lvl5pPr>
            <a:lvl6pPr marL="2857500" indent="0" algn="ctr">
              <a:buNone/>
              <a:defRPr sz="2000"/>
            </a:lvl6pPr>
            <a:lvl7pPr marL="3429000" indent="0" algn="ctr">
              <a:buNone/>
              <a:defRPr sz="2000"/>
            </a:lvl7pPr>
            <a:lvl8pPr marL="4000500" indent="0" algn="ctr">
              <a:buNone/>
              <a:defRPr sz="2000"/>
            </a:lvl8pPr>
            <a:lvl9pPr marL="45720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E9A6104-7EC3-CA94-0CF2-C26B8E1612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2/9/2026</a:t>
            </a:fld>
            <a:endParaRPr lang="en-US" sz="140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4ACEE84-A045-F1FB-32E7-10215CFCC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A45262B-88B9-01FF-0F03-AC39B3A4E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0658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3C2ACB36-E943-662B-60AB-AF014233AC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3EB64A-1451-1387-5BD7-EE703A1D4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2/9/2026</a:t>
            </a:fld>
            <a:endParaRPr lang="en-US" sz="140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98C4FC2-BCE7-948D-1B89-B44AE6E06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636ABC8-4627-97F6-54CC-0EC9838C7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41451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C7EF1BD8-906D-5A67-5A65-F4457E907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0029" y="1975127"/>
            <a:ext cx="13147238" cy="3565921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  <a:latin typeface="Michrom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0029" y="5736829"/>
            <a:ext cx="13147238" cy="1875234"/>
          </a:xfrm>
        </p:spPr>
        <p:txBody>
          <a:bodyPr/>
          <a:lstStyle>
            <a:lvl1pPr marL="0" indent="0">
              <a:buNone/>
              <a:defRPr sz="30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 marL="571500" indent="0">
              <a:buNone/>
              <a:defRPr sz="2500">
                <a:solidFill>
                  <a:schemeClr val="tx1">
                    <a:tint val="82000"/>
                  </a:schemeClr>
                </a:solidFill>
              </a:defRPr>
            </a:lvl2pPr>
            <a:lvl3pPr marL="1143000" indent="0">
              <a:buNone/>
              <a:defRPr sz="2250">
                <a:solidFill>
                  <a:schemeClr val="tx1">
                    <a:tint val="82000"/>
                  </a:schemeClr>
                </a:solidFill>
              </a:defRPr>
            </a:lvl3pPr>
            <a:lvl4pPr marL="17145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4pPr>
            <a:lvl5pPr marL="22860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5pPr>
            <a:lvl6pPr marL="28575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6pPr>
            <a:lvl7pPr marL="34290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7pPr>
            <a:lvl8pPr marL="40005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8pPr>
            <a:lvl9pPr marL="45720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9E0B7E3-8533-56BD-4480-A4AC68000D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2/9/2026</a:t>
            </a:fld>
            <a:endParaRPr lang="en-US" sz="140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BD36296-CB8A-6F24-8647-991C97BC1A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FA38E34-79F7-59F9-9E16-EF586EBD5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4545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CD12481D-FC0F-2DE1-5527-976D9A5214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>
                <a:solidFill>
                  <a:schemeClr val="bg1"/>
                </a:solidFill>
                <a:latin typeface="Michrom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47968" y="2282031"/>
            <a:ext cx="6478349" cy="5439173"/>
          </a:xfrm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2pPr>
            <a:lvl3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3pPr>
            <a:lvl4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4pPr>
            <a:lvl5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16858" y="2282031"/>
            <a:ext cx="6478349" cy="5439173"/>
          </a:xfrm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2pPr>
            <a:lvl3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3pPr>
            <a:lvl4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4pPr>
            <a:lvl5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110F2F1-7821-A7B5-39CD-51724FE56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2/9/2026</a:t>
            </a:fld>
            <a:endParaRPr lang="en-US" sz="140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8228D86-FAC5-A216-A30D-A4D1D387F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0103EDA-935B-50EC-B782-CD68B8555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76327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79F5BB8B-4129-E8EB-2395-6241D7A875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954" y="456407"/>
            <a:ext cx="13147238" cy="1656954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Michrom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9954" y="2101454"/>
            <a:ext cx="6448577" cy="1029890"/>
          </a:xfrm>
        </p:spPr>
        <p:txBody>
          <a:bodyPr anchor="b"/>
          <a:lstStyle>
            <a:lvl1pPr marL="0" indent="0">
              <a:buNone/>
              <a:defRPr sz="3000" b="1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 marL="571500" indent="0">
              <a:buNone/>
              <a:defRPr sz="2500" b="1"/>
            </a:lvl2pPr>
            <a:lvl3pPr marL="1143000" indent="0">
              <a:buNone/>
              <a:defRPr sz="2250" b="1"/>
            </a:lvl3pPr>
            <a:lvl4pPr marL="1714500" indent="0">
              <a:buNone/>
              <a:defRPr sz="2000" b="1"/>
            </a:lvl4pPr>
            <a:lvl5pPr marL="2286000" indent="0">
              <a:buNone/>
              <a:defRPr sz="2000" b="1"/>
            </a:lvl5pPr>
            <a:lvl6pPr marL="2857500" indent="0">
              <a:buNone/>
              <a:defRPr sz="2000" b="1"/>
            </a:lvl6pPr>
            <a:lvl7pPr marL="3429000" indent="0">
              <a:buNone/>
              <a:defRPr sz="2000" b="1"/>
            </a:lvl7pPr>
            <a:lvl8pPr marL="4000500" indent="0">
              <a:buNone/>
              <a:defRPr sz="2000" b="1"/>
            </a:lvl8pPr>
            <a:lvl9pPr marL="4572000" indent="0">
              <a:buNone/>
              <a:defRPr sz="20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9954" y="3131344"/>
            <a:ext cx="6448577" cy="4605735"/>
          </a:xfrm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2pPr>
            <a:lvl3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3pPr>
            <a:lvl4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4pPr>
            <a:lvl5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16857" y="2101454"/>
            <a:ext cx="6480335" cy="1029890"/>
          </a:xfrm>
        </p:spPr>
        <p:txBody>
          <a:bodyPr anchor="b"/>
          <a:lstStyle>
            <a:lvl1pPr marL="0" indent="0">
              <a:buNone/>
              <a:defRPr sz="3000" b="1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 marL="571500" indent="0">
              <a:buNone/>
              <a:defRPr sz="2500" b="1"/>
            </a:lvl2pPr>
            <a:lvl3pPr marL="1143000" indent="0">
              <a:buNone/>
              <a:defRPr sz="2250" b="1"/>
            </a:lvl3pPr>
            <a:lvl4pPr marL="1714500" indent="0">
              <a:buNone/>
              <a:defRPr sz="2000" b="1"/>
            </a:lvl4pPr>
            <a:lvl5pPr marL="2286000" indent="0">
              <a:buNone/>
              <a:defRPr sz="2000" b="1"/>
            </a:lvl5pPr>
            <a:lvl6pPr marL="2857500" indent="0">
              <a:buNone/>
              <a:defRPr sz="2000" b="1"/>
            </a:lvl6pPr>
            <a:lvl7pPr marL="3429000" indent="0">
              <a:buNone/>
              <a:defRPr sz="2000" b="1"/>
            </a:lvl7pPr>
            <a:lvl8pPr marL="4000500" indent="0">
              <a:buNone/>
              <a:defRPr sz="2000" b="1"/>
            </a:lvl8pPr>
            <a:lvl9pPr marL="4572000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16857" y="3131344"/>
            <a:ext cx="6480335" cy="4605735"/>
          </a:xfrm>
        </p:spPr>
        <p:txBody>
          <a:bodyPr/>
          <a:lstStyle>
            <a:lvl1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2pPr>
            <a:lvl3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3pPr>
            <a:lvl4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4pPr>
            <a:lvl5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F6F36CF-9FD4-76AE-E622-E194F375A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2/9/2026</a:t>
            </a:fld>
            <a:endParaRPr lang="en-US" sz="140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0D2E82F-4323-80D8-F9FE-23DD44301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A741501-8FE5-1D8F-3F53-625856759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52120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457B06E-C735-0914-E499-9181E48AFC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>
                <a:solidFill>
                  <a:schemeClr val="bg1"/>
                </a:solidFill>
                <a:latin typeface="Michrom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AB28F25-AB08-FE9E-18B1-D4DB1A411E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2/9/2026</a:t>
            </a:fld>
            <a:endParaRPr lang="en-US" sz="140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9EDED64-016A-9C44-3099-6D75B2630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62B6E7B-0CF1-DA01-4322-487E9E7AC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43164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171589D-8446-8C55-76C8-39A27B3A9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389CAE9-390B-A6D1-6721-1DFB9D5A8C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2/9/2026</a:t>
            </a:fld>
            <a:endParaRPr lang="en-US" sz="140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EDD5D1C-8A34-A1B8-D048-2D7CD4E51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97F18F8-42B5-BA73-B011-5EBFA0008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2373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F408D777-0222-1D0A-092C-35EBD4F30F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954" y="571500"/>
            <a:ext cx="4916320" cy="200025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  <a:latin typeface="Michrom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0335" y="1234282"/>
            <a:ext cx="7716857" cy="6092031"/>
          </a:xfrm>
        </p:spPr>
        <p:txBody>
          <a:bodyPr/>
          <a:lstStyle>
            <a:lvl1pPr>
              <a:defRPr sz="40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35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2pPr>
            <a:lvl3pPr>
              <a:defRPr sz="30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3pPr>
            <a:lvl4pPr>
              <a:defRPr sz="25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4pPr>
            <a:lvl5pPr>
              <a:defRPr sz="25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9954" y="2571750"/>
            <a:ext cx="4916320" cy="476448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 marL="571500" indent="0">
              <a:buNone/>
              <a:defRPr sz="1750"/>
            </a:lvl2pPr>
            <a:lvl3pPr marL="1143000" indent="0">
              <a:buNone/>
              <a:defRPr sz="1500"/>
            </a:lvl3pPr>
            <a:lvl4pPr marL="1714500" indent="0">
              <a:buNone/>
              <a:defRPr sz="1250"/>
            </a:lvl4pPr>
            <a:lvl5pPr marL="2286000" indent="0">
              <a:buNone/>
              <a:defRPr sz="1250"/>
            </a:lvl5pPr>
            <a:lvl6pPr marL="2857500" indent="0">
              <a:buNone/>
              <a:defRPr sz="1250"/>
            </a:lvl6pPr>
            <a:lvl7pPr marL="3429000" indent="0">
              <a:buNone/>
              <a:defRPr sz="1250"/>
            </a:lvl7pPr>
            <a:lvl8pPr marL="4000500" indent="0">
              <a:buNone/>
              <a:defRPr sz="1250"/>
            </a:lvl8pPr>
            <a:lvl9pPr marL="4572000" indent="0">
              <a:buNone/>
              <a:defRPr sz="1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E248754-B113-FB57-E1AB-242852B2F0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2/9/2026</a:t>
            </a:fld>
            <a:endParaRPr lang="en-US" sz="140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B08809-68D1-AB27-9D83-710DADCB8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F39D39D-C408-5D15-B572-894F3EA29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74284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D4DC715F-3C18-41D5-FB77-86F718007D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954" y="571500"/>
            <a:ext cx="4916320" cy="200025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  <a:latin typeface="Michrom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80335" y="1234282"/>
            <a:ext cx="7716857" cy="6092031"/>
          </a:xfrm>
        </p:spPr>
        <p:txBody>
          <a:bodyPr anchor="t"/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 marL="571500" indent="0">
              <a:buNone/>
              <a:defRPr sz="3500"/>
            </a:lvl2pPr>
            <a:lvl3pPr marL="1143000" indent="0">
              <a:buNone/>
              <a:defRPr sz="3000"/>
            </a:lvl3pPr>
            <a:lvl4pPr marL="1714500" indent="0">
              <a:buNone/>
              <a:defRPr sz="2500"/>
            </a:lvl4pPr>
            <a:lvl5pPr marL="2286000" indent="0">
              <a:buNone/>
              <a:defRPr sz="2500"/>
            </a:lvl5pPr>
            <a:lvl6pPr marL="2857500" indent="0">
              <a:buNone/>
              <a:defRPr sz="2500"/>
            </a:lvl6pPr>
            <a:lvl7pPr marL="3429000" indent="0">
              <a:buNone/>
              <a:defRPr sz="2500"/>
            </a:lvl7pPr>
            <a:lvl8pPr marL="4000500" indent="0">
              <a:buNone/>
              <a:defRPr sz="2500"/>
            </a:lvl8pPr>
            <a:lvl9pPr marL="4572000" indent="0">
              <a:buNone/>
              <a:defRPr sz="2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9954" y="2571750"/>
            <a:ext cx="4916320" cy="476448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 marL="571500" indent="0">
              <a:buNone/>
              <a:defRPr sz="1750"/>
            </a:lvl2pPr>
            <a:lvl3pPr marL="1143000" indent="0">
              <a:buNone/>
              <a:defRPr sz="1500"/>
            </a:lvl3pPr>
            <a:lvl4pPr marL="1714500" indent="0">
              <a:buNone/>
              <a:defRPr sz="1250"/>
            </a:lvl4pPr>
            <a:lvl5pPr marL="2286000" indent="0">
              <a:buNone/>
              <a:defRPr sz="1250"/>
            </a:lvl5pPr>
            <a:lvl6pPr marL="2857500" indent="0">
              <a:buNone/>
              <a:defRPr sz="1250"/>
            </a:lvl6pPr>
            <a:lvl7pPr marL="3429000" indent="0">
              <a:buNone/>
              <a:defRPr sz="1250"/>
            </a:lvl7pPr>
            <a:lvl8pPr marL="4000500" indent="0">
              <a:buNone/>
              <a:defRPr sz="1250"/>
            </a:lvl8pPr>
            <a:lvl9pPr marL="4572000" indent="0">
              <a:buNone/>
              <a:defRPr sz="12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EA120C-5A88-CD04-1E1B-93CC3D7156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2/9/2026</a:t>
            </a:fld>
            <a:endParaRPr lang="en-US" sz="140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CF31AD4-0E67-6404-7759-A3BA3F95C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15A0CDC-1EBF-2AAE-7F90-3D6DFE03B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6099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763576EC-6FF7-BB93-ABA3-E2BB6A28AD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>
                <a:solidFill>
                  <a:schemeClr val="bg1"/>
                </a:solidFill>
                <a:latin typeface="Michrom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2pPr>
            <a:lvl3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3pPr>
            <a:lvl4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4pPr>
            <a:lvl5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01AAC5D-8160-1AC3-A43C-CF33AFB178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2/9/2026</a:t>
            </a:fld>
            <a:endParaRPr lang="en-US" sz="140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D6534DE-9AE8-2D2F-74AD-E12D256AA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8328143-9722-6B03-131F-EE063680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47859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3C54BE1-0467-9B95-16AF-8B788F976E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908397" y="456406"/>
            <a:ext cx="3286810" cy="7264798"/>
          </a:xfrm>
        </p:spPr>
        <p:txBody>
          <a:bodyPr vert="eaVert"/>
          <a:lstStyle>
            <a:lvl1pPr>
              <a:defRPr sz="4800">
                <a:solidFill>
                  <a:schemeClr val="bg1"/>
                </a:solidFill>
                <a:latin typeface="Michrom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7968" y="456406"/>
            <a:ext cx="9669889" cy="7264798"/>
          </a:xfrm>
        </p:spPr>
        <p:txBody>
          <a:bodyPr vert="eaVert"/>
          <a:lstStyle>
            <a:lvl1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1pPr>
            <a:lvl2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2pPr>
            <a:lvl3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3pPr>
            <a:lvl4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4pPr>
            <a:lvl5pPr>
              <a:defRPr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06C7371-29F6-E448-22E8-528D9EAA3A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2/9/2026</a:t>
            </a:fld>
            <a:endParaRPr lang="en-US" sz="140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C691CB4-09CF-188F-8970-91E5657F5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AE23D9E-B7AF-902C-2BF2-6EDDC2A0E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97189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bg>
      <p:bgPr>
        <a:solidFill>
          <a:srgbClr val="24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A37BC833-F95F-5E62-B7A8-3F41242568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1EB1F79-BC29-40B5-9FB6-2CA62A9271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2/9/2026</a:t>
            </a:fld>
            <a:endParaRPr lang="en-US" sz="140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A3ECB0-8F4B-7311-3992-BB009E8F1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B375E6C-02C0-8CB9-8057-51A6CC4BFB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98851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C5B881A-7719-7EF7-180A-BC291204AD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5207" y="243840"/>
            <a:ext cx="799709" cy="79716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3E11F1-43FC-5FFF-8362-EFD6A9B01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968" y="7945438"/>
            <a:ext cx="3429714" cy="456406"/>
          </a:xfrm>
        </p:spPr>
        <p:txBody>
          <a:bodyPr/>
          <a:lstStyle>
            <a:lvl1pPr>
              <a:defRPr sz="1400"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2/9/2026</a:t>
            </a:fld>
            <a:endParaRPr lang="en-US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9A9B7-C369-707F-3093-33F81EADC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49302" y="7945438"/>
            <a:ext cx="5144572" cy="456406"/>
          </a:xfrm>
        </p:spPr>
        <p:txBody>
          <a:bodyPr/>
          <a:lstStyle>
            <a:lvl1pPr>
              <a:defRPr sz="1400"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086E1-ABEC-7EF0-4E82-24CD5E203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5493" y="7945438"/>
            <a:ext cx="3429714" cy="456406"/>
          </a:xfrm>
        </p:spPr>
        <p:txBody>
          <a:bodyPr/>
          <a:lstStyle>
            <a:lvl1pPr>
              <a:defRPr sz="1400"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4896426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06AF8FA-2E87-0B72-7769-59A9494A83A1}"/>
              </a:ext>
            </a:extLst>
          </p:cNvPr>
          <p:cNvGrpSpPr/>
          <p:nvPr userDrawn="1"/>
        </p:nvGrpSpPr>
        <p:grpSpPr>
          <a:xfrm>
            <a:off x="3205511" y="1385980"/>
            <a:ext cx="8832160" cy="6656808"/>
            <a:chOff x="2409289" y="1108784"/>
            <a:chExt cx="7064256" cy="5325446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C28BD2B-DA1B-FC70-97FE-CA7D0E4FB2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09289" y="1108784"/>
              <a:ext cx="7064256" cy="424604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69B6BE-D38B-9F30-5B9B-99F610C17448}"/>
                </a:ext>
              </a:extLst>
            </p:cNvPr>
            <p:cNvSpPr txBox="1"/>
            <p:nvPr userDrawn="1"/>
          </p:nvSpPr>
          <p:spPr>
            <a:xfrm>
              <a:off x="4659946" y="6014064"/>
              <a:ext cx="2562937" cy="4201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13" dirty="0">
                  <a:solidFill>
                    <a:schemeClr val="bg1">
                      <a:lumMod val="50000"/>
                    </a:schemeClr>
                  </a:solidFill>
                </a:rPr>
                <a:t>remakerdigital.com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6695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E69B6BE-D38B-9F30-5B9B-99F610C17448}"/>
              </a:ext>
            </a:extLst>
          </p:cNvPr>
          <p:cNvSpPr txBox="1"/>
          <p:nvPr userDrawn="1"/>
        </p:nvSpPr>
        <p:spPr>
          <a:xfrm>
            <a:off x="6019418" y="7450146"/>
            <a:ext cx="3204339" cy="525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13" dirty="0">
                <a:solidFill>
                  <a:schemeClr val="bg1">
                    <a:lumMod val="50000"/>
                  </a:schemeClr>
                </a:solidFill>
              </a:rPr>
              <a:t>remakerdigital.com</a:t>
            </a:r>
          </a:p>
        </p:txBody>
      </p:sp>
      <p:pic>
        <p:nvPicPr>
          <p:cNvPr id="1026" name="Picture 2" descr="Agentblazer Legend">
            <a:extLst>
              <a:ext uri="{FF2B5EF4-FFF2-40B4-BE49-F238E27FC236}">
                <a16:creationId xmlns:a16="http://schemas.microsoft.com/office/drawing/2014/main" id="{30C6CF84-7855-C3C0-D994-DA64228F3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151" y="1276441"/>
            <a:ext cx="6020872" cy="6019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245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9450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rgbClr val="24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2F8E673-6CA0-58A9-0EE0-D925FC310983}"/>
              </a:ext>
            </a:extLst>
          </p:cNvPr>
          <p:cNvSpPr/>
          <p:nvPr userDrawn="1"/>
        </p:nvSpPr>
        <p:spPr>
          <a:xfrm>
            <a:off x="1605155" y="1353356"/>
            <a:ext cx="5857856" cy="1330211"/>
          </a:xfrm>
          <a:prstGeom prst="rect">
            <a:avLst/>
          </a:prstGeom>
          <a:solidFill>
            <a:srgbClr val="535353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0" dirty="0">
                <a:ln>
                  <a:noFill/>
                </a:ln>
              </a:rPr>
              <a:t>#535353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8C0B6C-1646-EC28-EC47-91A4A1AC96D2}"/>
              </a:ext>
            </a:extLst>
          </p:cNvPr>
          <p:cNvSpPr/>
          <p:nvPr userDrawn="1"/>
        </p:nvSpPr>
        <p:spPr>
          <a:xfrm>
            <a:off x="1605155" y="5888936"/>
            <a:ext cx="5857856" cy="1312843"/>
          </a:xfrm>
          <a:prstGeom prst="rect">
            <a:avLst/>
          </a:prstGeom>
          <a:solidFill>
            <a:srgbClr val="CC222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0" dirty="0">
                <a:ln>
                  <a:noFill/>
                </a:ln>
              </a:rPr>
              <a:t>#CC2222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0210C0-03E8-9E9A-CBFC-638B0E62E3A0}"/>
              </a:ext>
            </a:extLst>
          </p:cNvPr>
          <p:cNvSpPr/>
          <p:nvPr userDrawn="1"/>
        </p:nvSpPr>
        <p:spPr>
          <a:xfrm>
            <a:off x="7780169" y="1370723"/>
            <a:ext cx="5857856" cy="2818460"/>
          </a:xfrm>
          <a:prstGeom prst="rect">
            <a:avLst/>
          </a:prstGeom>
          <a:solidFill>
            <a:srgbClr val="18232B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0" dirty="0">
                <a:ln>
                  <a:noFill/>
                </a:ln>
              </a:rPr>
              <a:t>#18232B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D387C1-3847-8412-F82B-2A0C6751BB6B}"/>
              </a:ext>
            </a:extLst>
          </p:cNvPr>
          <p:cNvSpPr/>
          <p:nvPr userDrawn="1"/>
        </p:nvSpPr>
        <p:spPr>
          <a:xfrm>
            <a:off x="7780165" y="4400688"/>
            <a:ext cx="5857856" cy="2818460"/>
          </a:xfrm>
          <a:prstGeom prst="rect">
            <a:avLst/>
          </a:prstGeom>
          <a:solidFill>
            <a:srgbClr val="24334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0" dirty="0">
                <a:ln>
                  <a:noFill/>
                </a:ln>
              </a:rPr>
              <a:t>#243340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F07602-C5BA-DB4D-0EF9-586E4861B0A1}"/>
              </a:ext>
            </a:extLst>
          </p:cNvPr>
          <p:cNvSpPr/>
          <p:nvPr userDrawn="1"/>
        </p:nvSpPr>
        <p:spPr>
          <a:xfrm>
            <a:off x="1605155" y="2858972"/>
            <a:ext cx="5857856" cy="1330211"/>
          </a:xfrm>
          <a:prstGeom prst="rect">
            <a:avLst/>
          </a:prstGeom>
          <a:solidFill>
            <a:srgbClr val="959595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0" dirty="0">
                <a:ln>
                  <a:noFill/>
                </a:ln>
              </a:rPr>
              <a:t>#959595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0CBF5C-6639-2835-4E7F-6928E023278B}"/>
              </a:ext>
            </a:extLst>
          </p:cNvPr>
          <p:cNvSpPr/>
          <p:nvPr userDrawn="1"/>
        </p:nvSpPr>
        <p:spPr>
          <a:xfrm>
            <a:off x="1605155" y="4383322"/>
            <a:ext cx="5857856" cy="1330211"/>
          </a:xfrm>
          <a:prstGeom prst="rect">
            <a:avLst/>
          </a:prstGeom>
          <a:solidFill>
            <a:srgbClr val="959595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750" dirty="0">
                <a:ln>
                  <a:noFill/>
                </a:ln>
              </a:rPr>
              <a:t>#777777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31EE76B-BA9B-CE8C-6AA7-EA4B6177BB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0788" y="7937661"/>
            <a:ext cx="473461" cy="47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380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8E9DD76-74BE-A858-AC65-39C88E64CB34}"/>
              </a:ext>
            </a:extLst>
          </p:cNvPr>
          <p:cNvGrpSpPr/>
          <p:nvPr userDrawn="1"/>
        </p:nvGrpSpPr>
        <p:grpSpPr>
          <a:xfrm>
            <a:off x="1805796" y="-1"/>
            <a:ext cx="13437376" cy="8572501"/>
            <a:chOff x="1805796" y="-1"/>
            <a:chExt cx="13437376" cy="8572501"/>
          </a:xfrm>
        </p:grpSpPr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A876EEC8-B704-3472-83D0-F54B42809ED8}"/>
                </a:ext>
              </a:extLst>
            </p:cNvPr>
            <p:cNvSpPr/>
            <p:nvPr userDrawn="1"/>
          </p:nvSpPr>
          <p:spPr>
            <a:xfrm rot="10800000" flipV="1">
              <a:off x="1805796" y="-1"/>
              <a:ext cx="13437376" cy="8572500"/>
            </a:xfrm>
            <a:prstGeom prst="triangle">
              <a:avLst>
                <a:gd name="adj" fmla="val 0"/>
              </a:avLst>
            </a:prstGeom>
            <a:solidFill>
              <a:srgbClr val="212F3B">
                <a:alpha val="5607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13" dirty="0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DDD5A15C-1684-5B07-0116-AE72680A438D}"/>
                </a:ext>
              </a:extLst>
            </p:cNvPr>
            <p:cNvSpPr/>
            <p:nvPr userDrawn="1"/>
          </p:nvSpPr>
          <p:spPr>
            <a:xfrm rot="10800000">
              <a:off x="6911396" y="0"/>
              <a:ext cx="8331775" cy="8572500"/>
            </a:xfrm>
            <a:prstGeom prst="triangle">
              <a:avLst>
                <a:gd name="adj" fmla="val 0"/>
              </a:avLst>
            </a:prstGeom>
            <a:solidFill>
              <a:srgbClr val="19242D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13" dirty="0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D4BCC30E-A57C-EC8C-0F1E-6F27CD2BCFE7}"/>
                </a:ext>
              </a:extLst>
            </p:cNvPr>
            <p:cNvSpPr/>
            <p:nvPr userDrawn="1"/>
          </p:nvSpPr>
          <p:spPr>
            <a:xfrm rot="10800000">
              <a:off x="11244478" y="0"/>
              <a:ext cx="3998689" cy="8572500"/>
            </a:xfrm>
            <a:prstGeom prst="triangle">
              <a:avLst>
                <a:gd name="adj" fmla="val 0"/>
              </a:avLst>
            </a:prstGeom>
            <a:solidFill>
              <a:srgbClr val="18232B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13"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7969" y="456407"/>
            <a:ext cx="13147238" cy="16569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7969" y="2282031"/>
            <a:ext cx="13147238" cy="5439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7968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8578BD5C-A151-43AB-A843-5B7720A7511B}" type="datetimeFigureOut">
              <a:rPr lang="en-US" smtClean="0"/>
              <a:pPr/>
              <a:t>2/9/2026</a:t>
            </a:fld>
            <a:endParaRPr lang="en-US" sz="1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49302" y="7945438"/>
            <a:ext cx="5144572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Copyright © 2025 Remaker Digital. All rights reserved.</a:t>
            </a:r>
            <a:endParaRPr lang="en-US" sz="1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5493" y="7945438"/>
            <a:ext cx="3429714" cy="4564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C225953A-F00B-4CDB-B780-219B5778FF37}" type="slidenum">
              <a:rPr lang="en-US" smtClean="0"/>
              <a:pPr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6159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84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61" r:id="rId14"/>
    <p:sldLayoutId id="2147483662" r:id="rId15"/>
    <p:sldLayoutId id="2147483669" r:id="rId16"/>
    <p:sldLayoutId id="2147483670" r:id="rId17"/>
    <p:sldLayoutId id="2147483666" r:id="rId18"/>
  </p:sldLayoutIdLst>
  <p:txStyles>
    <p:titleStyle>
      <a:lvl1pPr algn="l" defTabSz="11430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Michroma" pitchFamily="2" charset="0"/>
          <a:ea typeface="+mj-ea"/>
          <a:cs typeface="+mj-cs"/>
        </a:defRPr>
      </a:lvl1pPr>
    </p:titleStyle>
    <p:bodyStyle>
      <a:lvl1pPr marL="285750" indent="-285750" algn="l" defTabSz="1143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3500" kern="1200">
          <a:solidFill>
            <a:schemeClr val="bg2">
              <a:lumMod val="90000"/>
            </a:schemeClr>
          </a:solidFill>
          <a:latin typeface="Montserrat" panose="00000500000000000000" pitchFamily="2" charset="0"/>
          <a:ea typeface="+mn-ea"/>
          <a:cs typeface="+mn-cs"/>
        </a:defRPr>
      </a:lvl1pPr>
      <a:lvl2pPr marL="857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3000" kern="1200">
          <a:solidFill>
            <a:schemeClr val="bg2">
              <a:lumMod val="90000"/>
            </a:schemeClr>
          </a:solidFill>
          <a:latin typeface="Montserrat" panose="00000500000000000000" pitchFamily="2" charset="0"/>
          <a:ea typeface="+mn-ea"/>
          <a:cs typeface="+mn-cs"/>
        </a:defRPr>
      </a:lvl2pPr>
      <a:lvl3pPr marL="1428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500" kern="1200">
          <a:solidFill>
            <a:schemeClr val="bg2">
              <a:lumMod val="90000"/>
            </a:schemeClr>
          </a:solidFill>
          <a:latin typeface="Montserrat" panose="00000500000000000000" pitchFamily="2" charset="0"/>
          <a:ea typeface="+mn-ea"/>
          <a:cs typeface="+mn-cs"/>
        </a:defRPr>
      </a:lvl3pPr>
      <a:lvl4pPr marL="2000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bg2">
              <a:lumMod val="90000"/>
            </a:schemeClr>
          </a:solidFill>
          <a:latin typeface="Montserrat" panose="00000500000000000000" pitchFamily="2" charset="0"/>
          <a:ea typeface="+mn-ea"/>
          <a:cs typeface="+mn-cs"/>
        </a:defRPr>
      </a:lvl4pPr>
      <a:lvl5pPr marL="2571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bg2">
              <a:lumMod val="90000"/>
            </a:schemeClr>
          </a:solidFill>
          <a:latin typeface="Montserrat" panose="00000500000000000000" pitchFamily="2" charset="0"/>
          <a:ea typeface="+mn-ea"/>
          <a:cs typeface="+mn-cs"/>
        </a:defRPr>
      </a:lvl5pPr>
      <a:lvl6pPr marL="3143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6pPr>
      <a:lvl7pPr marL="3714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7pPr>
      <a:lvl8pPr marL="4286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8pPr>
      <a:lvl9pPr marL="4857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714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5pPr>
      <a:lvl6pPr marL="2857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6pPr>
      <a:lvl7pPr marL="3429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7pPr>
      <a:lvl8pPr marL="4000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8pPr>
      <a:lvl9pPr marL="4572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AGNTCY SDK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Multi-Agent Customer Service Platform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EC3A4-1089-1459-646B-221969287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71318A8-C32E-D29D-84E2-9B2E6AA61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4564"/>
            <a:ext cx="15243175" cy="8097936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97EBDAAD-4CBF-7A94-DCF1-D24ECDE4A13C}"/>
              </a:ext>
            </a:extLst>
          </p:cNvPr>
          <p:cNvSpPr/>
          <p:nvPr/>
        </p:nvSpPr>
        <p:spPr>
          <a:xfrm>
            <a:off x="459971" y="2997432"/>
            <a:ext cx="9182793" cy="3361804"/>
          </a:xfrm>
          <a:prstGeom prst="roundRect">
            <a:avLst>
              <a:gd name="adj" fmla="val 3764"/>
            </a:avLst>
          </a:prstGeom>
          <a:solidFill>
            <a:srgbClr val="1A1A1A"/>
          </a:solidFill>
          <a:ln w="12700">
            <a:solidFill>
              <a:srgbClr val="27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C33EE8D-3F25-0960-A3E6-64C1754E9B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305" y="3304333"/>
            <a:ext cx="4179022" cy="10286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65C703-CE7A-91EA-98AE-409A74666A73}"/>
              </a:ext>
            </a:extLst>
          </p:cNvPr>
          <p:cNvSpPr txBox="1"/>
          <p:nvPr/>
        </p:nvSpPr>
        <p:spPr>
          <a:xfrm>
            <a:off x="2092036" y="4567192"/>
            <a:ext cx="7162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">
              <a:spcAft>
                <a:spcPts val="1200"/>
              </a:spcAft>
              <a:defRPr sz="2200">
                <a:solidFill>
                  <a:srgbClr val="FFFFFF"/>
                </a:solidFill>
                <a:latin typeface="Montserrat"/>
              </a:defRPr>
            </a:pPr>
            <a:r>
              <a:rPr lang="en-US" sz="2800" dirty="0"/>
              <a:t>Customer Experience: </a:t>
            </a:r>
            <a:br>
              <a:rPr lang="en-US" sz="2800" dirty="0"/>
            </a:br>
            <a:r>
              <a:rPr lang="en-US" sz="2800" dirty="0"/>
              <a:t>AI Service Agent with Persistent Customer Memory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2591248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B2648-B4E3-9642-5B08-35AB9CC29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0E4509E-AA69-0506-5FC2-2A563933FD7B}"/>
              </a:ext>
            </a:extLst>
          </p:cNvPr>
          <p:cNvSpPr txBox="1"/>
          <p:nvPr/>
        </p:nvSpPr>
        <p:spPr>
          <a:xfrm>
            <a:off x="1097280" y="548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CCCC"/>
                </a:solidFill>
                <a:latin typeface="Montserrat"/>
              </a:defRPr>
            </a:pPr>
            <a:r>
              <a:t>KEY BENEFIT 1 OF 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614E1C-456E-EE8F-843A-DB8E42A38AA7}"/>
              </a:ext>
            </a:extLst>
          </p:cNvPr>
          <p:cNvSpPr/>
          <p:nvPr/>
        </p:nvSpPr>
        <p:spPr>
          <a:xfrm>
            <a:off x="1097280" y="1005840"/>
            <a:ext cx="2286000" cy="508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CEE8AE-4A2D-BFB9-0052-5393D46171C4}"/>
              </a:ext>
            </a:extLst>
          </p:cNvPr>
          <p:cNvSpPr txBox="1"/>
          <p:nvPr/>
        </p:nvSpPr>
        <p:spPr>
          <a:xfrm>
            <a:off x="1097280" y="1280160"/>
            <a:ext cx="1304574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hroma"/>
              </a:defRPr>
            </a:pPr>
            <a:r>
              <a:t>AI that remembers every customer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230FA3-F671-1A12-F0AC-AD575B49ED36}"/>
              </a:ext>
            </a:extLst>
          </p:cNvPr>
          <p:cNvSpPr txBox="1"/>
          <p:nvPr/>
        </p:nvSpPr>
        <p:spPr>
          <a:xfrm>
            <a:off x="1097280" y="2377440"/>
            <a:ext cx="1304574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3621"/>
                </a:solidFill>
                <a:latin typeface="Montserrat"/>
              </a:defRPr>
            </a:pPr>
            <a:r>
              <a:t>Persistent Customer Memory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17D2CE-0828-242B-573E-894F2E5AB947}"/>
              </a:ext>
            </a:extLst>
          </p:cNvPr>
          <p:cNvSpPr txBox="1"/>
          <p:nvPr/>
        </p:nvSpPr>
        <p:spPr>
          <a:xfrm>
            <a:off x="1097281" y="3200400"/>
            <a:ext cx="9930937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8660" indent="-571500">
              <a:spcAft>
                <a:spcPts val="12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  <a:latin typeface="Montserrat"/>
              </a:defRPr>
            </a:pPr>
            <a:r>
              <a:rPr sz="3600" dirty="0"/>
              <a:t>Builds a profile from every interaction automatically</a:t>
            </a:r>
          </a:p>
          <a:p>
            <a:pPr marL="708660" indent="-571500">
              <a:spcAft>
                <a:spcPts val="12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  <a:latin typeface="Montserrat"/>
              </a:defRPr>
            </a:pPr>
            <a:r>
              <a:rPr sz="3600" dirty="0"/>
              <a:t>Recalls purchase history, preferences, and context</a:t>
            </a:r>
          </a:p>
          <a:p>
            <a:pPr marL="708660" indent="-571500">
              <a:spcAft>
                <a:spcPts val="12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  <a:latin typeface="Montserrat"/>
              </a:defRPr>
            </a:pPr>
            <a:r>
              <a:rPr lang="en-US" sz="3600" dirty="0"/>
              <a:t>P</a:t>
            </a:r>
            <a:r>
              <a:rPr sz="3600" dirty="0"/>
              <a:t>ersonalized from the first message</a:t>
            </a:r>
          </a:p>
          <a:p>
            <a:pPr marL="708660" indent="-571500">
              <a:spcAft>
                <a:spcPts val="12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  <a:latin typeface="Montserrat"/>
              </a:defRPr>
            </a:pPr>
            <a:r>
              <a:rPr sz="3600" dirty="0"/>
              <a:t>4-layer memory: profile, history, patterns, dedicated AI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5B0B83-CE4E-BB67-E300-62BBC0DC6F58}"/>
              </a:ext>
            </a:extLst>
          </p:cNvPr>
          <p:cNvSpPr txBox="1"/>
          <p:nvPr/>
        </p:nvSpPr>
        <p:spPr>
          <a:xfrm>
            <a:off x="11812388" y="3200400"/>
            <a:ext cx="2845722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FF3621"/>
                </a:solidFill>
                <a:latin typeface="Montserrat"/>
              </a:defRPr>
            </a:pPr>
            <a:r>
              <a:rPr lang="en-US" sz="2800" dirty="0"/>
              <a:t>No competitor offers per-customer AI memory</a:t>
            </a:r>
          </a:p>
        </p:txBody>
      </p:sp>
    </p:spTree>
    <p:extLst>
      <p:ext uri="{BB962C8B-B14F-4D97-AF65-F5344CB8AC3E}">
        <p14:creationId xmlns:p14="http://schemas.microsoft.com/office/powerpoint/2010/main" val="1233204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67A60-6C99-D4F2-5449-B7FBC5448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2B4725-A74C-4FB7-4B3C-41199450CD37}"/>
              </a:ext>
            </a:extLst>
          </p:cNvPr>
          <p:cNvSpPr txBox="1"/>
          <p:nvPr/>
        </p:nvSpPr>
        <p:spPr>
          <a:xfrm>
            <a:off x="1097280" y="548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CCCC"/>
                </a:solidFill>
                <a:latin typeface="Montserrat"/>
              </a:defRPr>
            </a:pPr>
            <a:r>
              <a:t>KEY BENEFIT 2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AEEB53-737F-855C-AB94-F5825936BB26}"/>
              </a:ext>
            </a:extLst>
          </p:cNvPr>
          <p:cNvSpPr/>
          <p:nvPr/>
        </p:nvSpPr>
        <p:spPr>
          <a:xfrm>
            <a:off x="1097280" y="1005840"/>
            <a:ext cx="2286000" cy="508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2AF9B-DACC-3EA6-B956-B67B20D1F0FB}"/>
              </a:ext>
            </a:extLst>
          </p:cNvPr>
          <p:cNvSpPr txBox="1"/>
          <p:nvPr/>
        </p:nvSpPr>
        <p:spPr>
          <a:xfrm>
            <a:off x="1097280" y="1280160"/>
            <a:ext cx="1304574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hroma"/>
              </a:defRPr>
            </a:pPr>
            <a:r>
              <a:t>Instant answers, always 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96F14E-E6D0-F2FD-0329-50245768917C}"/>
              </a:ext>
            </a:extLst>
          </p:cNvPr>
          <p:cNvSpPr txBox="1"/>
          <p:nvPr/>
        </p:nvSpPr>
        <p:spPr>
          <a:xfrm>
            <a:off x="1097280" y="2377440"/>
            <a:ext cx="1304574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3621"/>
                </a:solidFill>
                <a:latin typeface="Montserrat"/>
              </a:defRPr>
            </a:pPr>
            <a:r>
              <a:t>6-Agent AI pipeline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AA2A33-B6F9-D079-78DD-822FA454905F}"/>
              </a:ext>
            </a:extLst>
          </p:cNvPr>
          <p:cNvSpPr txBox="1"/>
          <p:nvPr/>
        </p:nvSpPr>
        <p:spPr>
          <a:xfrm>
            <a:off x="1097280" y="3200400"/>
            <a:ext cx="9889375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8660" indent="-571500">
              <a:spcAft>
                <a:spcPts val="12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  <a:latin typeface="Montserrat"/>
              </a:defRPr>
            </a:pPr>
            <a:r>
              <a:rPr sz="3600" dirty="0"/>
              <a:t>Intent classification routes queries in milliseconds</a:t>
            </a:r>
          </a:p>
          <a:p>
            <a:pPr marL="708660" indent="-571500">
              <a:spcAft>
                <a:spcPts val="12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  <a:latin typeface="Montserrat"/>
              </a:defRPr>
            </a:pPr>
            <a:r>
              <a:rPr sz="3600" dirty="0"/>
              <a:t>Knowledge base search with hybrid AI retrieval</a:t>
            </a:r>
          </a:p>
          <a:p>
            <a:pPr marL="708660" indent="-571500">
              <a:spcAft>
                <a:spcPts val="12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  <a:latin typeface="Montserrat"/>
              </a:defRPr>
            </a:pPr>
            <a:r>
              <a:rPr sz="3600" dirty="0"/>
              <a:t>Real-time streaming responses via SSE</a:t>
            </a:r>
          </a:p>
          <a:p>
            <a:pPr marL="708660" indent="-571500">
              <a:spcAft>
                <a:spcPts val="12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  <a:latin typeface="Montserrat"/>
              </a:defRPr>
            </a:pPr>
            <a:r>
              <a:rPr sz="3600" dirty="0"/>
              <a:t>Safety-first: every response validated before delivery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0EB9C3-BB91-F8D0-0FDF-B4C8EC824C43}"/>
              </a:ext>
            </a:extLst>
          </p:cNvPr>
          <p:cNvSpPr txBox="1"/>
          <p:nvPr/>
        </p:nvSpPr>
        <p:spPr>
          <a:xfrm>
            <a:off x="11812388" y="3200400"/>
            <a:ext cx="2845722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FF3621"/>
                </a:solidFill>
                <a:latin typeface="Montserrat"/>
              </a:defRPr>
            </a:pPr>
            <a:r>
              <a:rPr lang="en-US" sz="2800" dirty="0"/>
              <a:t>&lt; 2 second response time, 24/7/365</a:t>
            </a:r>
          </a:p>
        </p:txBody>
      </p:sp>
    </p:spTree>
    <p:extLst>
      <p:ext uri="{BB962C8B-B14F-4D97-AF65-F5344CB8AC3E}">
        <p14:creationId xmlns:p14="http://schemas.microsoft.com/office/powerpoint/2010/main" val="2700999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5754B-BF12-BC77-24C7-A5AB7DE5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B9CC74-EE91-566C-9A06-976E868842C4}"/>
              </a:ext>
            </a:extLst>
          </p:cNvPr>
          <p:cNvSpPr txBox="1"/>
          <p:nvPr/>
        </p:nvSpPr>
        <p:spPr>
          <a:xfrm>
            <a:off x="1097280" y="548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CCCC"/>
                </a:solidFill>
                <a:latin typeface="Montserrat"/>
              </a:defRPr>
            </a:pPr>
            <a:r>
              <a:t>KEY BENEFIT 3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FEE6A2-04D9-C448-0517-3792D9469AFC}"/>
              </a:ext>
            </a:extLst>
          </p:cNvPr>
          <p:cNvSpPr/>
          <p:nvPr/>
        </p:nvSpPr>
        <p:spPr>
          <a:xfrm>
            <a:off x="1097280" y="1005840"/>
            <a:ext cx="2286000" cy="508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29DC39-07A1-54AB-5A06-81BBCE28400D}"/>
              </a:ext>
            </a:extLst>
          </p:cNvPr>
          <p:cNvSpPr txBox="1"/>
          <p:nvPr/>
        </p:nvSpPr>
        <p:spPr>
          <a:xfrm>
            <a:off x="1097280" y="1280160"/>
            <a:ext cx="1304574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hroma"/>
              </a:defRPr>
            </a:pPr>
            <a:r>
              <a:t>One dashboard, complete control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167B2C-AEC0-4A79-8210-08363E35DFCE}"/>
              </a:ext>
            </a:extLst>
          </p:cNvPr>
          <p:cNvSpPr txBox="1"/>
          <p:nvPr/>
        </p:nvSpPr>
        <p:spPr>
          <a:xfrm>
            <a:off x="1097280" y="2377440"/>
            <a:ext cx="1304574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3621"/>
                </a:solidFill>
                <a:latin typeface="Montserrat"/>
              </a:defRPr>
            </a:pPr>
            <a:r>
              <a:t>Built for Shopify merchants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367D8-A8A3-29AB-4E30-650C8AFED8A8}"/>
              </a:ext>
            </a:extLst>
          </p:cNvPr>
          <p:cNvSpPr txBox="1"/>
          <p:nvPr/>
        </p:nvSpPr>
        <p:spPr>
          <a:xfrm>
            <a:off x="1097281" y="3200400"/>
            <a:ext cx="9833956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8660" indent="-571500">
              <a:spcAft>
                <a:spcPts val="12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  <a:latin typeface="Montserrat"/>
              </a:defRPr>
            </a:pPr>
            <a:r>
              <a:rPr sz="3600" dirty="0"/>
              <a:t>Conversation inbox with full customer context</a:t>
            </a:r>
          </a:p>
          <a:p>
            <a:pPr marL="708660" indent="-571500">
              <a:spcAft>
                <a:spcPts val="12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  <a:latin typeface="Montserrat"/>
              </a:defRPr>
            </a:pPr>
            <a:r>
              <a:rPr sz="3600" dirty="0"/>
              <a:t>Knowledge base with document upload and AI search</a:t>
            </a:r>
          </a:p>
          <a:p>
            <a:pPr marL="708660" indent="-571500">
              <a:spcAft>
                <a:spcPts val="12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  <a:latin typeface="Montserrat"/>
              </a:defRPr>
            </a:pPr>
            <a:r>
              <a:rPr sz="3600" dirty="0"/>
              <a:t>Widget customizer with live preview</a:t>
            </a:r>
          </a:p>
          <a:p>
            <a:pPr marL="708660" indent="-571500">
              <a:spcAft>
                <a:spcPts val="1200"/>
              </a:spcAft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  <a:latin typeface="Montserrat"/>
              </a:defRPr>
            </a:pPr>
            <a:r>
              <a:rPr sz="3600" dirty="0"/>
              <a:t>Usage analytics, team management, and billing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3C0100-3B5F-0F42-37D2-FB0394731E9A}"/>
              </a:ext>
            </a:extLst>
          </p:cNvPr>
          <p:cNvSpPr txBox="1"/>
          <p:nvPr/>
        </p:nvSpPr>
        <p:spPr>
          <a:xfrm>
            <a:off x="11812388" y="3200400"/>
            <a:ext cx="2845722" cy="2677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F3621"/>
                </a:solidFill>
                <a:latin typeface="Montserrat"/>
              </a:defRPr>
            </a:pPr>
            <a:r>
              <a:rPr sz="2800" dirty="0"/>
              <a:t>Starting at $149/</a:t>
            </a:r>
            <a:r>
              <a:rPr sz="2800" dirty="0" err="1"/>
              <a:t>mo</a:t>
            </a:r>
            <a:r>
              <a:rPr lang="en-US" sz="2800" dirty="0"/>
              <a:t>:</a:t>
            </a:r>
            <a:br>
              <a:rPr lang="en-US" sz="2800" dirty="0"/>
            </a:br>
            <a:br>
              <a:rPr lang="en-US" sz="2800" dirty="0"/>
            </a:br>
            <a:r>
              <a:rPr sz="2800" dirty="0"/>
              <a:t>4 to 21x cheaper than competitors</a:t>
            </a:r>
          </a:p>
        </p:txBody>
      </p:sp>
    </p:spTree>
    <p:extLst>
      <p:ext uri="{BB962C8B-B14F-4D97-AF65-F5344CB8AC3E}">
        <p14:creationId xmlns:p14="http://schemas.microsoft.com/office/powerpoint/2010/main" val="547852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D207-E12C-3C19-32D4-A242F787B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032FB7-1EC6-1104-1A94-6831E5245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4564"/>
            <a:ext cx="15243175" cy="809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604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324CF-A658-DC8A-6FDC-718CB5FBA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0B0C31-AF3F-E771-424F-1A8730BF9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74564"/>
            <a:ext cx="15243175" cy="809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66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2B1DAAA-1BC9-700B-A99B-692E1B65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4564"/>
            <a:ext cx="15243175" cy="809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60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Architectural Goals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Why AGNTCY SDK was selected for this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37DD16D-99E2-93D5-62EE-BC0FF7CAE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7420" y="135731"/>
            <a:ext cx="12815818" cy="83010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Architecture</a:t>
            </a:r>
            <a:endParaRPr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B0C6CA-268B-D23B-69CF-9066521379A0}"/>
              </a:ext>
            </a:extLst>
          </p:cNvPr>
          <p:cNvSpPr txBox="1">
            <a:spLocks/>
          </p:cNvSpPr>
          <p:nvPr/>
        </p:nvSpPr>
        <p:spPr>
          <a:xfrm>
            <a:off x="1047969" y="2161315"/>
            <a:ext cx="6391922" cy="24245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85750" indent="-285750" algn="l" defTabSz="1143000" rtl="0" eaLnBrk="1" latinLnBrk="0" hangingPunct="1">
              <a:lnSpc>
                <a:spcPct val="90000"/>
              </a:lnSpc>
              <a:spcBef>
                <a:spcPts val="1250"/>
              </a:spcBef>
              <a:buFont typeface="Arial" panose="020B0604020202020204" pitchFamily="34" charset="0"/>
              <a:buChar char="•"/>
              <a:defRPr sz="3500" kern="12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857250" indent="-285750" algn="l" defTabSz="1143000" rtl="0" eaLnBrk="1" latinLnBrk="0" hangingPunct="1">
              <a:lnSpc>
                <a:spcPct val="90000"/>
              </a:lnSpc>
              <a:spcBef>
                <a:spcPts val="625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1428750" indent="-285750" algn="l" defTabSz="1143000" rtl="0" eaLnBrk="1" latinLnBrk="0" hangingPunct="1">
              <a:lnSpc>
                <a:spcPct val="90000"/>
              </a:lnSpc>
              <a:spcBef>
                <a:spcPts val="625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2000250" indent="-285750" algn="l" defTabSz="1143000" rtl="0" eaLnBrk="1" latinLnBrk="0" hangingPunct="1">
              <a:lnSpc>
                <a:spcPct val="90000"/>
              </a:lnSpc>
              <a:spcBef>
                <a:spcPts val="625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571750" indent="-285750" algn="l" defTabSz="1143000" rtl="0" eaLnBrk="1" latinLnBrk="0" hangingPunct="1">
              <a:lnSpc>
                <a:spcPct val="90000"/>
              </a:lnSpc>
              <a:spcBef>
                <a:spcPts val="625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bg2">
                    <a:lumMod val="90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3143250" indent="-285750" algn="l" defTabSz="1143000" rtl="0" eaLnBrk="1" latinLnBrk="0" hangingPunct="1">
              <a:lnSpc>
                <a:spcPct val="90000"/>
              </a:lnSpc>
              <a:spcBef>
                <a:spcPts val="625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14750" indent="-285750" algn="l" defTabSz="1143000" rtl="0" eaLnBrk="1" latinLnBrk="0" hangingPunct="1">
              <a:lnSpc>
                <a:spcPct val="90000"/>
              </a:lnSpc>
              <a:spcBef>
                <a:spcPts val="625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86250" indent="-285750" algn="l" defTabSz="1143000" rtl="0" eaLnBrk="1" latinLnBrk="0" hangingPunct="1">
              <a:lnSpc>
                <a:spcPct val="90000"/>
              </a:lnSpc>
              <a:spcBef>
                <a:spcPts val="625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57750" indent="-285750" algn="l" defTabSz="1143000" rtl="0" eaLnBrk="1" latinLnBrk="0" hangingPunct="1">
              <a:lnSpc>
                <a:spcPct val="90000"/>
              </a:lnSpc>
              <a:spcBef>
                <a:spcPts val="625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Azure, Docker, Terraform</a:t>
            </a:r>
          </a:p>
          <a:p>
            <a:r>
              <a:rPr lang="en-US" sz="2800" dirty="0"/>
              <a:t>HA via NSPF, est 99.95%</a:t>
            </a:r>
          </a:p>
          <a:p>
            <a:r>
              <a:rPr lang="en-US" sz="2800" dirty="0"/>
              <a:t>Autoscaling &amp; throttling, NDU</a:t>
            </a:r>
          </a:p>
          <a:p>
            <a:r>
              <a:rPr lang="en-US" sz="2800" dirty="0"/>
              <a:t>Secure &amp; GDPR compliant</a:t>
            </a:r>
          </a:p>
          <a:p>
            <a:r>
              <a:rPr lang="en-US" sz="2800" dirty="0"/>
              <a:t>Core </a:t>
            </a:r>
            <a:r>
              <a:rPr lang="en-US" sz="2800" dirty="0" err="1"/>
              <a:t>proj</a:t>
            </a:r>
            <a:r>
              <a:rPr lang="en-US" sz="2800" dirty="0"/>
              <a:t>. on GitHub (MIT </a:t>
            </a:r>
            <a:r>
              <a:rPr lang="en-US" sz="2800" dirty="0" err="1"/>
              <a:t>lic</a:t>
            </a:r>
            <a:r>
              <a:rPr lang="en-US" sz="2800" dirty="0"/>
              <a:t>.)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20925-AA7B-3DB8-3178-51428F3A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4CDDF-D229-8D55-DEBD-83C510AAE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Design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A71C3-D0FC-20A3-15F5-2FE9132BD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Protocol-transport decoupling for environment flexibility</a:t>
            </a:r>
          </a:p>
          <a:p>
            <a:r>
              <a:rPr dirty="0"/>
              <a:t>Built-in </a:t>
            </a:r>
            <a:r>
              <a:rPr dirty="0" err="1"/>
              <a:t>OpenTelemetry</a:t>
            </a:r>
            <a:r>
              <a:rPr dirty="0"/>
              <a:t> observability for KPI tracking</a:t>
            </a:r>
          </a:p>
          <a:p>
            <a:r>
              <a:rPr dirty="0"/>
              <a:t>Factory pattern simplifies multi-agent initialization</a:t>
            </a:r>
          </a:p>
          <a:p>
            <a:r>
              <a:rPr dirty="0"/>
              <a:t>A2A message threading (</a:t>
            </a:r>
            <a:r>
              <a:rPr dirty="0" err="1"/>
              <a:t>contextId</a:t>
            </a:r>
            <a:r>
              <a:rPr dirty="0"/>
              <a:t>/</a:t>
            </a:r>
            <a:r>
              <a:rPr dirty="0" err="1"/>
              <a:t>taskId</a:t>
            </a:r>
            <a:r>
              <a:rPr dirty="0"/>
              <a:t>) for conversation continuity</a:t>
            </a:r>
          </a:p>
          <a:p>
            <a:r>
              <a:rPr dirty="0" err="1"/>
              <a:t>AppSession</a:t>
            </a:r>
            <a:r>
              <a:rPr dirty="0"/>
              <a:t> handles concurrent customer sessions</a:t>
            </a:r>
          </a:p>
          <a:p>
            <a:r>
              <a:rPr dirty="0"/>
              <a:t>Educational value for demonstrating enterprise patterns</a:t>
            </a:r>
          </a:p>
        </p:txBody>
      </p:sp>
    </p:spTree>
    <p:extLst>
      <p:ext uri="{BB962C8B-B14F-4D97-AF65-F5344CB8AC3E}">
        <p14:creationId xmlns:p14="http://schemas.microsoft.com/office/powerpoint/2010/main" val="4017626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Protocol 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A2A Protocol: Intent, Response, Escalation, Analytics, Critic agents</a:t>
            </a:r>
          </a:p>
          <a:p>
            <a:r>
              <a:t>MCP Protocol: Knowledge Retrieval agent (standardized tool interface)</a:t>
            </a:r>
          </a:p>
          <a:p>
            <a:r>
              <a:t>SLIM Transport: Primary agents (secure, low-latency)</a:t>
            </a:r>
          </a:p>
          <a:p>
            <a:r>
              <a:t>NATS Transport: Analytics agent (high-throughput event streaming)</a:t>
            </a:r>
          </a:p>
          <a:p>
            <a:r>
              <a:t>Hybrid approach maximizes protocol strengths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Pros and Cons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Benefits and limitations discovered during implementation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AGNTCY SDK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Open-source Apache 2.0 license with no licensing costs</a:t>
            </a:r>
          </a:p>
          <a:p>
            <a:r>
              <a:t>Protocol-transport decoupling enables dev/prod flexibility</a:t>
            </a:r>
          </a:p>
          <a:p>
            <a:r>
              <a:t>Native OpenTelemetry integration for execution tracing</a:t>
            </a:r>
          </a:p>
          <a:p>
            <a:r>
              <a:t>Comprehensive test patterns in SDK examples</a:t>
            </a:r>
          </a:p>
          <a:p>
            <a:r>
              <a:t>Python 3.12+ modern async codebase</a:t>
            </a:r>
          </a:p>
          <a:p>
            <a:r>
              <a:t>Factory singleton pattern ensures consistent configuration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AGNTCY SDK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Directory and Identity services not yet available</a:t>
            </a:r>
          </a:p>
          <a:p>
            <a:r>
              <a:t>Limited production deployment documentation</a:t>
            </a:r>
          </a:p>
          <a:p>
            <a:r>
              <a:t>No official Azure integration examples provided</a:t>
            </a:r>
          </a:p>
          <a:p>
            <a:r>
              <a:t>SLIM configuration schema complexity caused issues</a:t>
            </a:r>
          </a:p>
          <a:p>
            <a:r>
              <a:t>Requires custom service discovery implementation</a:t>
            </a:r>
          </a:p>
          <a:p>
            <a:r>
              <a:t>Python 3.12+ requirement excludes older environments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Issues Discovered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Technical challenges encountered during implementation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SLIM Config</a:t>
            </a:r>
            <a:r>
              <a:rPr lang="en-US" dirty="0"/>
              <a:t>.</a:t>
            </a:r>
            <a:r>
              <a:rPr dirty="0"/>
              <a:t> Issue (Resolved)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Container failed with InvalidKey error on startup</a:t>
            </a:r>
          </a:p>
          <a:p>
            <a:r>
              <a:t>Root cause: Incorrect YAML schema using server: key</a:t>
            </a:r>
          </a:p>
          <a:p>
            <a:r>
              <a:t>Endpoint format must be host:port without http:// scheme</a:t>
            </a:r>
          </a:p>
          <a:p>
            <a:r>
              <a:t>Correct hierarchy: tracing, runtime, services keys</a:t>
            </a:r>
          </a:p>
          <a:p>
            <a:r>
              <a:t>Resolution documented in SLIM-CONFIGURATION-ISSUE.md</a:t>
            </a:r>
          </a:p>
          <a:p>
            <a:r>
              <a:t>Status: RESOLVED as of 2026-01-25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SDK Feature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Directory Service marked Coming Soon in documentation</a:t>
            </a:r>
          </a:p>
          <a:p>
            <a:r>
              <a:t>Identity Service requires external auth implementation</a:t>
            </a:r>
          </a:p>
          <a:p>
            <a:r>
              <a:t>MQTT Transport unavailable for edge scenarios</a:t>
            </a:r>
          </a:p>
          <a:p>
            <a:r>
              <a:t>Manual topic configuration needed without service discovery</a:t>
            </a:r>
          </a:p>
          <a:p>
            <a:r>
              <a:t>Custom Azure Key Vault integration required</a:t>
            </a:r>
          </a:p>
          <a:p>
            <a:r>
              <a:t>Session management limits for high-concurrency scenarios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Alternatives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Frameworks considered and rejection rationale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Transport Alternatives Eval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NATS: High-throughput but lacks SLIM security features</a:t>
            </a:r>
          </a:p>
          <a:p>
            <a:r>
              <a:t>Azure Service Bus: Managed service but higher latency</a:t>
            </a:r>
          </a:p>
          <a:p>
            <a:r>
              <a:t>HTTP/REST: Simple but no built-in pub-sub patterns</a:t>
            </a:r>
          </a:p>
          <a:p>
            <a:r>
              <a:t>gRPC: Performance but heavier implementation burden</a:t>
            </a:r>
          </a:p>
          <a:p>
            <a:r>
              <a:t>Decision: SLIM primary + NATS for analytics events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Framework Alternative</a:t>
            </a:r>
            <a:r>
              <a:rPr lang="en-US" dirty="0"/>
              <a:t>s</a:t>
            </a:r>
            <a:r>
              <a:rPr dirty="0"/>
              <a:t> Considered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LangChain: Popular but less control over agent communication</a:t>
            </a:r>
          </a:p>
          <a:p>
            <a:r>
              <a:t>AutoGen: Microsoft SDK but different architectural model</a:t>
            </a:r>
          </a:p>
          <a:p>
            <a:r>
              <a:t>Custom implementation: Full control but higher development cost</a:t>
            </a:r>
          </a:p>
          <a:p>
            <a:r>
              <a:t>AGNTCY selected for protocol flexibility and observability</a:t>
            </a:r>
          </a:p>
          <a:p>
            <a:r>
              <a:t>Educational value aligned with blog post objectives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Future Testing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Planned validation of SDK benefits and limitations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Testing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test 100+ concurrent sessions to validate AppSession limits</a:t>
            </a:r>
          </a:p>
          <a:p>
            <a:r>
              <a:t>Measure P95 message latency across SLIM transport</a:t>
            </a:r>
          </a:p>
          <a:p>
            <a:r>
              <a:t>Compare SLIM vs NATS throughput for analytics events</a:t>
            </a:r>
          </a:p>
          <a:p>
            <a:r>
              <a:t>Benchmark OpenTelemetry tracing overhead (&lt;50ms target)</a:t>
            </a:r>
          </a:p>
          <a:p>
            <a:r>
              <a:t>Stress test agent restart and reconnection behavior</a:t>
            </a:r>
          </a:p>
          <a:p>
            <a:r>
              <a:t>Quantify memory footprint per agent instance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Testing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 A2A message routing across all 6 agents</a:t>
            </a:r>
          </a:p>
          <a:p>
            <a:r>
              <a:t>Test MCP tool interface with mock external services</a:t>
            </a:r>
          </a:p>
          <a:p>
            <a:r>
              <a:t>Verify contextId preservation across conversation flows</a:t>
            </a:r>
          </a:p>
          <a:p>
            <a:r>
              <a:t>Measure escalation routing accuracy (target &gt;95%)</a:t>
            </a:r>
          </a:p>
          <a:p>
            <a:r>
              <a:t>Test graceful degradation when agents unavailable</a:t>
            </a:r>
          </a:p>
          <a:p>
            <a:r>
              <a:t>Validate Critic agent content validation accuracy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SLIM Protocol Evaluation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Assessment for similar multi-agent projects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SLIM Protocol 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gateway authentication with password protection</a:t>
            </a:r>
          </a:p>
          <a:p>
            <a:r>
              <a:t>Low-latency point-to-point messaging</a:t>
            </a:r>
          </a:p>
          <a:p>
            <a:r>
              <a:t>Built-in pub-sub patterns for agent communication</a:t>
            </a:r>
          </a:p>
          <a:p>
            <a:r>
              <a:t>TLS 1.3 support for production deployments</a:t>
            </a:r>
          </a:p>
          <a:p>
            <a:r>
              <a:t>Suitable for both local development and production</a:t>
            </a:r>
          </a:p>
          <a:p>
            <a:r>
              <a:t>Lightweight resource footprint in Docker containers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SLIM Protocol 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Configuration schema complexity requires careful attention</a:t>
            </a:r>
          </a:p>
          <a:p>
            <a:r>
              <a:t>Limited documentation compared to mature protocols</a:t>
            </a:r>
          </a:p>
          <a:p>
            <a:r>
              <a:t>No built-in service discovery mechanism</a:t>
            </a:r>
          </a:p>
          <a:p>
            <a:r>
              <a:t>Endpoint format is non-standard (no URI scheme)</a:t>
            </a:r>
          </a:p>
          <a:p>
            <a:r>
              <a:t>Requires external tooling for monitoring and metrics</a:t>
            </a:r>
          </a:p>
          <a:p>
            <a:r>
              <a:t>Community support smaller than NATS or RabbitMQ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SLIM Recommendation for Similar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Recommended for: Secure agent communication in controlled environments</a:t>
            </a:r>
          </a:p>
          <a:p>
            <a:r>
              <a:t>Best fit: Projects requiring low-latency with built-in auth</a:t>
            </a:r>
          </a:p>
          <a:p>
            <a:r>
              <a:t>Avoid if: High-throughput streaming is primary use case</a:t>
            </a:r>
          </a:p>
          <a:p>
            <a:r>
              <a:t>Combine with: NATS for event-driven analytics workloads</a:t>
            </a:r>
          </a:p>
          <a:p>
            <a:r>
              <a:t>Production tip: Enable TLS and use Azure Key Vault for credentials</a:t>
            </a:r>
          </a:p>
          <a:p>
            <a:r>
              <a:t>Alternative: Azure Service Bus for fully managed option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5AA19E-00A1-9824-D6E1-9C162F1EDE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0E43AD9-E055-15E0-8BCB-4036163AA7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125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AGNTCY SDK provides solid multi-agent foundation</a:t>
            </a:r>
          </a:p>
          <a:p>
            <a:r>
              <a:t>Protocol-transport decoupling is the primary architectural benefit</a:t>
            </a:r>
          </a:p>
          <a:p>
            <a:r>
              <a:t>Manual implementation needed for directory and identity services</a:t>
            </a:r>
          </a:p>
          <a:p>
            <a:r>
              <a:t>SLIM configuration requires attention to schema format</a:t>
            </a:r>
          </a:p>
          <a:p>
            <a:r>
              <a:t>Hybrid SLIM+NATS approach balances security and throughput</a:t>
            </a:r>
          </a:p>
          <a:p>
            <a:r>
              <a:t>Comprehensive testing planned to quantify production readiness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5291</TotalTime>
  <Words>899</Words>
  <Application>Microsoft Office PowerPoint</Application>
  <PresentationFormat>Custom</PresentationFormat>
  <Paragraphs>141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Michroma</vt:lpstr>
      <vt:lpstr>Arial</vt:lpstr>
      <vt:lpstr>Montserrat</vt:lpstr>
      <vt:lpstr>Office Theme</vt:lpstr>
      <vt:lpstr>AGNTCY SDK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Architectural Goals</vt:lpstr>
      <vt:lpstr>Cloud Architecture</vt:lpstr>
      <vt:lpstr>Design Goals</vt:lpstr>
      <vt:lpstr>Agent Protocol Assignments</vt:lpstr>
      <vt:lpstr>Pros and Cons</vt:lpstr>
      <vt:lpstr>Advantages of AGNTCY SDK</vt:lpstr>
      <vt:lpstr>Limitations of AGNTCY SDK</vt:lpstr>
      <vt:lpstr>Issues Discovered</vt:lpstr>
      <vt:lpstr>SLIM Config. Issue (Resolved)</vt:lpstr>
      <vt:lpstr>SDK Feature Gaps</vt:lpstr>
      <vt:lpstr>Alternatives Analysis</vt:lpstr>
      <vt:lpstr>Transport Alternatives Eval.</vt:lpstr>
      <vt:lpstr>Framework Alternatives Considered</vt:lpstr>
      <vt:lpstr>Future Testing</vt:lpstr>
      <vt:lpstr>Performance Testing Plan</vt:lpstr>
      <vt:lpstr>Integration Testing Plan</vt:lpstr>
      <vt:lpstr>SLIM Protocol Evaluation</vt:lpstr>
      <vt:lpstr>SLIM Protocol Strengths</vt:lpstr>
      <vt:lpstr>SLIM Protocol Weaknesses</vt:lpstr>
      <vt:lpstr>SLIM Recommendation for Similar Projects</vt:lpstr>
      <vt:lpstr>Key Takeaways</vt:lpstr>
      <vt:lpstr>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Palmeter</dc:creator>
  <cp:lastModifiedBy>Michael Palmeter</cp:lastModifiedBy>
  <cp:revision>7</cp:revision>
  <dcterms:created xsi:type="dcterms:W3CDTF">2025-08-28T16:30:02Z</dcterms:created>
  <dcterms:modified xsi:type="dcterms:W3CDTF">2026-02-09T19:08:47Z</dcterms:modified>
</cp:coreProperties>
</file>