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1" r:id="rId1"/>
  </p:sldMasterIdLst>
  <p:notesMasterIdLst>
    <p:notesMasterId r:id="rId10"/>
  </p:notesMasterIdLst>
  <p:handoutMasterIdLst>
    <p:handoutMasterId r:id="rId11"/>
  </p:handoutMasterIdLst>
  <p:sldIdLst>
    <p:sldId id="322" r:id="rId2"/>
    <p:sldId id="312" r:id="rId3"/>
    <p:sldId id="310" r:id="rId4"/>
    <p:sldId id="323" r:id="rId5"/>
    <p:sldId id="324" r:id="rId6"/>
    <p:sldId id="325" r:id="rId7"/>
    <p:sldId id="292" r:id="rId8"/>
    <p:sldId id="258" r:id="rId9"/>
  </p:sldIdLst>
  <p:sldSz cx="15243175" cy="85725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ans Medium" pitchFamily="2" charset="0"/>
      <p:regular r:id="rId16"/>
      <p:italic r:id="rId17"/>
    </p:embeddedFont>
    <p:embeddedFont>
      <p:font typeface="Grandview" panose="020B0502040204020203" pitchFamily="34" charset="0"/>
      <p:regular r:id="rId18"/>
      <p:bold r:id="rId19"/>
      <p:italic r:id="rId20"/>
      <p:boldItalic r:id="rId21"/>
    </p:embeddedFont>
    <p:embeddedFont>
      <p:font typeface="Michroma" pitchFamily="2" charset="0"/>
      <p:regular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2222"/>
    <a:srgbClr val="757575"/>
    <a:srgbClr val="18232B"/>
    <a:srgbClr val="212F3B"/>
    <a:srgbClr val="19242D"/>
    <a:srgbClr val="22303C"/>
    <a:srgbClr val="959595"/>
    <a:srgbClr val="252525"/>
    <a:srgbClr val="243340"/>
    <a:srgbClr val="FF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FC4A03-3D79-48FF-9CF9-8523209CD949}" v="145" dt="2026-01-22T18:24:38.33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5020" autoAdjust="0"/>
  </p:normalViewPr>
  <p:slideViewPr>
    <p:cSldViewPr snapToGrid="0">
      <p:cViewPr varScale="1">
        <p:scale>
          <a:sx n="55" d="100"/>
          <a:sy n="55" d="100"/>
        </p:scale>
        <p:origin x="1853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443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6CE4C-9F14-2815-AEB7-4D09F1B7AA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073D0-026F-BFE1-B591-A807D0AAAF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604CD-2240-4EBE-9126-6945D1D1A705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0D89D-4AA0-2A37-1E0D-80A03EDD56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FEBEE-A1FC-AB32-CCF6-3214D29844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00DCE-3A85-48EA-9C51-D9C6CDAB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16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C5B0E-CBBD-4BCC-A89C-C962C55D44B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1A5FB-2955-46A8-862A-9CF2CD83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0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1448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2896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14346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85794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57244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8691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140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1588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>
          <a:extLst>
            <a:ext uri="{FF2B5EF4-FFF2-40B4-BE49-F238E27FC236}">
              <a16:creationId xmlns:a16="http://schemas.microsoft.com/office/drawing/2014/main" id="{8C5F6921-C5D9-6D7B-F427-2EAA26DD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f094d96f7e_0_2950:notes">
            <a:extLst>
              <a:ext uri="{FF2B5EF4-FFF2-40B4-BE49-F238E27FC236}">
                <a16:creationId xmlns:a16="http://schemas.microsoft.com/office/drawing/2014/main" id="{3BF6ED32-66AC-4BF4-35FB-BCD6926EF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f094d96f7e_0_2950:notes">
            <a:extLst>
              <a:ext uri="{FF2B5EF4-FFF2-40B4-BE49-F238E27FC236}">
                <a16:creationId xmlns:a16="http://schemas.microsoft.com/office/drawing/2014/main" id="{3928AA1E-041A-F457-FEF4-6D2570BBA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 are strong Microsoft partners, and we prioritize seamlessness with Azure wherever possible.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There is no either-or decision: our stack builds on and integrates with the Azure cloud stack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You retain control over what you use, and you don’t need to forklift anything – you can adopt Databricks without reversing anything you already have in-flight. It’s parallel to what you’ve already assembled, and there’s a very high degree of forward portability for your current assets moving to Databricks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You can easily uptake Photon, Unity catalog, our workbench, and leave behind a bunch of infrastructure-level concerns that your data practitioners don’t need to be concerned with anymore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And you get the usability benefits of </a:t>
            </a:r>
            <a:r>
              <a:rPr lang="en-US" sz="1100" dirty="0" err="1">
                <a:solidFill>
                  <a:schemeClr val="tx1"/>
                </a:solidFill>
              </a:rPr>
              <a:t>DatabricksIQ</a:t>
            </a:r>
            <a:r>
              <a:rPr lang="en-US" sz="1100" dirty="0">
                <a:solidFill>
                  <a:schemeClr val="tx1"/>
                </a:solidFill>
              </a:rPr>
              <a:t> across the whole platform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88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E97B583-C51E-0DAB-48F7-025F50908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397" y="1402954"/>
            <a:ext cx="11432381" cy="29845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397" y="4624467"/>
            <a:ext cx="11432381" cy="2069703"/>
          </a:xfrm>
        </p:spPr>
        <p:txBody>
          <a:bodyPr/>
          <a:lstStyle>
            <a:lvl1pPr marL="0" indent="0" algn="ctr">
              <a:buNone/>
              <a:defRPr sz="3000"/>
            </a:lvl1pPr>
            <a:lvl2pPr marL="571500" indent="0" algn="ctr">
              <a:buNone/>
              <a:defRPr sz="2500"/>
            </a:lvl2pPr>
            <a:lvl3pPr marL="1143000" indent="0" algn="ctr">
              <a:buNone/>
              <a:defRPr sz="2250"/>
            </a:lvl3pPr>
            <a:lvl4pPr marL="1714500" indent="0" algn="ctr">
              <a:buNone/>
              <a:defRPr sz="2000"/>
            </a:lvl4pPr>
            <a:lvl5pPr marL="2286000" indent="0" algn="ctr">
              <a:buNone/>
              <a:defRPr sz="2000"/>
            </a:lvl5pPr>
            <a:lvl6pPr marL="2857500" indent="0" algn="ctr">
              <a:buNone/>
              <a:defRPr sz="2000"/>
            </a:lvl6pPr>
            <a:lvl7pPr marL="3429000" indent="0" algn="ctr">
              <a:buNone/>
              <a:defRPr sz="2000"/>
            </a:lvl7pPr>
            <a:lvl8pPr marL="4000500" indent="0" algn="ctr">
              <a:buNone/>
              <a:defRPr sz="2000"/>
            </a:lvl8pPr>
            <a:lvl9pPr marL="45720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9A6104-7EC3-CA94-0CF2-C26B8E16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ACEE84-A045-F1FB-32E7-10215CFC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45262B-88B9-01FF-0F03-AC39B3A4E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4258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E97B583-C51E-0DAB-48F7-025F50908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7969" y="1051560"/>
            <a:ext cx="8202712" cy="3780674"/>
          </a:xfrm>
        </p:spPr>
        <p:txBody>
          <a:bodyPr anchor="b">
            <a:normAutofit/>
          </a:bodyPr>
          <a:lstStyle>
            <a:lvl1pPr algn="l">
              <a:defRPr sz="6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969" y="5054007"/>
            <a:ext cx="8202712" cy="2124033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3000" spc="-30" baseline="0"/>
            </a:lvl1pPr>
            <a:lvl2pPr marL="571500" indent="0" algn="ctr">
              <a:buNone/>
              <a:defRPr sz="2500"/>
            </a:lvl2pPr>
            <a:lvl3pPr marL="1143000" indent="0" algn="ctr">
              <a:buNone/>
              <a:defRPr sz="2250"/>
            </a:lvl3pPr>
            <a:lvl4pPr marL="1714500" indent="0" algn="ctr">
              <a:buNone/>
              <a:defRPr sz="2000"/>
            </a:lvl4pPr>
            <a:lvl5pPr marL="2286000" indent="0" algn="ctr">
              <a:buNone/>
              <a:defRPr sz="2000"/>
            </a:lvl5pPr>
            <a:lvl6pPr marL="2857500" indent="0" algn="ctr">
              <a:buNone/>
              <a:defRPr sz="2000"/>
            </a:lvl6pPr>
            <a:lvl7pPr marL="3429000" indent="0" algn="ctr">
              <a:buNone/>
              <a:defRPr sz="2000"/>
            </a:lvl7pPr>
            <a:lvl8pPr marL="4000500" indent="0" algn="ctr">
              <a:buNone/>
              <a:defRPr sz="2000"/>
            </a:lvl8pPr>
            <a:lvl9pPr marL="45720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9A6104-7EC3-CA94-0CF2-C26B8E16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ACEE84-A045-F1FB-32E7-10215CFC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45262B-88B9-01FF-0F03-AC39B3A4E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658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C2ACB36-E943-662B-60AB-AF014233AC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3EB64A-1451-1387-5BD7-EE703A1D4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98C4FC2-BCE7-948D-1B89-B44AE6E06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36ABC8-4627-97F6-54CC-0EC9838C7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4145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7EF1BD8-906D-5A67-5A65-F4457E907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029" y="1975127"/>
            <a:ext cx="13147238" cy="3565921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0029" y="5736829"/>
            <a:ext cx="13147238" cy="1875234"/>
          </a:xfrm>
        </p:spPr>
        <p:txBody>
          <a:bodyPr/>
          <a:lstStyle>
            <a:lvl1pPr marL="0" indent="0">
              <a:buNone/>
              <a:defRPr sz="3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2500">
                <a:solidFill>
                  <a:schemeClr val="tx1">
                    <a:tint val="82000"/>
                  </a:schemeClr>
                </a:solidFill>
              </a:defRPr>
            </a:lvl2pPr>
            <a:lvl3pPr marL="114300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3pPr>
            <a:lvl4pPr marL="17145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4pPr>
            <a:lvl5pPr marL="2286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5pPr>
            <a:lvl6pPr marL="28575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6pPr>
            <a:lvl7pPr marL="3429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7pPr>
            <a:lvl8pPr marL="40005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8pPr>
            <a:lvl9pPr marL="4572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9E0B7E3-8533-56BD-4480-A4AC68000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D36296-CB8A-6F24-8647-991C97BC1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A38E34-79F7-59F9-9E16-EF586EBD5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454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D12481D-FC0F-2DE1-5527-976D9A5214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968" y="2282031"/>
            <a:ext cx="6478349" cy="5439173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6858" y="2282031"/>
            <a:ext cx="6478349" cy="5439173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110F2F1-7821-A7B5-39CD-51724FE5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8228D86-FAC5-A216-A30D-A4D1D387F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0103EDA-935B-50EC-B782-CD68B8555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632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9F5BB8B-4129-E8EB-2395-6241D7A875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456407"/>
            <a:ext cx="13147238" cy="1656954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9954" y="2101454"/>
            <a:ext cx="6448577" cy="1029890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2500" b="1"/>
            </a:lvl2pPr>
            <a:lvl3pPr marL="1143000" indent="0">
              <a:buNone/>
              <a:defRPr sz="2250" b="1"/>
            </a:lvl3pPr>
            <a:lvl4pPr marL="1714500" indent="0">
              <a:buNone/>
              <a:defRPr sz="2000" b="1"/>
            </a:lvl4pPr>
            <a:lvl5pPr marL="2286000" indent="0">
              <a:buNone/>
              <a:defRPr sz="2000" b="1"/>
            </a:lvl5pPr>
            <a:lvl6pPr marL="2857500" indent="0">
              <a:buNone/>
              <a:defRPr sz="2000" b="1"/>
            </a:lvl6pPr>
            <a:lvl7pPr marL="3429000" indent="0">
              <a:buNone/>
              <a:defRPr sz="2000" b="1"/>
            </a:lvl7pPr>
            <a:lvl8pPr marL="4000500" indent="0">
              <a:buNone/>
              <a:defRPr sz="2000" b="1"/>
            </a:lvl8pPr>
            <a:lvl9pPr marL="4572000" indent="0">
              <a:buNone/>
              <a:defRPr sz="20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954" y="3131344"/>
            <a:ext cx="6448577" cy="4605735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16857" y="2101454"/>
            <a:ext cx="6480335" cy="1029890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2500" b="1"/>
            </a:lvl2pPr>
            <a:lvl3pPr marL="1143000" indent="0">
              <a:buNone/>
              <a:defRPr sz="2250" b="1"/>
            </a:lvl3pPr>
            <a:lvl4pPr marL="1714500" indent="0">
              <a:buNone/>
              <a:defRPr sz="2000" b="1"/>
            </a:lvl4pPr>
            <a:lvl5pPr marL="2286000" indent="0">
              <a:buNone/>
              <a:defRPr sz="2000" b="1"/>
            </a:lvl5pPr>
            <a:lvl6pPr marL="2857500" indent="0">
              <a:buNone/>
              <a:defRPr sz="2000" b="1"/>
            </a:lvl6pPr>
            <a:lvl7pPr marL="3429000" indent="0">
              <a:buNone/>
              <a:defRPr sz="2000" b="1"/>
            </a:lvl7pPr>
            <a:lvl8pPr marL="4000500" indent="0">
              <a:buNone/>
              <a:defRPr sz="2000" b="1"/>
            </a:lvl8pPr>
            <a:lvl9pPr marL="4572000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16857" y="3131344"/>
            <a:ext cx="6480335" cy="4605735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F6F36CF-9FD4-76AE-E622-E194F375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0D2E82F-4323-80D8-F9FE-23DD4430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A741501-8FE5-1D8F-3F53-62585675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212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457B06E-C735-0914-E499-9181E48AF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B28F25-AB08-FE9E-18B1-D4DB1A411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9EDED64-016A-9C44-3099-6D75B2630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2B6E7B-0CF1-DA01-4322-487E9E7AC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316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171589D-8446-8C55-76C8-39A27B3A9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89CAE9-390B-A6D1-6721-1DFB9D5A8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DD5D1C-8A34-A1B8-D048-2D7CD4E51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7F18F8-42B5-BA73-B011-5EBFA0008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373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408D777-0222-1D0A-092C-35EBD4F30F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71500"/>
            <a:ext cx="4916320" cy="200025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0335" y="1234282"/>
            <a:ext cx="7716857" cy="6092031"/>
          </a:xfrm>
        </p:spPr>
        <p:txBody>
          <a:bodyPr/>
          <a:lstStyle>
            <a:lvl1pPr>
              <a:defRPr sz="4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35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 sz="3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 sz="25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 sz="25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571750"/>
            <a:ext cx="4916320" cy="476448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1750"/>
            </a:lvl2pPr>
            <a:lvl3pPr marL="1143000" indent="0">
              <a:buNone/>
              <a:defRPr sz="1500"/>
            </a:lvl3pPr>
            <a:lvl4pPr marL="1714500" indent="0">
              <a:buNone/>
              <a:defRPr sz="1250"/>
            </a:lvl4pPr>
            <a:lvl5pPr marL="2286000" indent="0">
              <a:buNone/>
              <a:defRPr sz="1250"/>
            </a:lvl5pPr>
            <a:lvl6pPr marL="2857500" indent="0">
              <a:buNone/>
              <a:defRPr sz="1250"/>
            </a:lvl6pPr>
            <a:lvl7pPr marL="3429000" indent="0">
              <a:buNone/>
              <a:defRPr sz="1250"/>
            </a:lvl7pPr>
            <a:lvl8pPr marL="4000500" indent="0">
              <a:buNone/>
              <a:defRPr sz="1250"/>
            </a:lvl8pPr>
            <a:lvl9pPr marL="4572000" indent="0">
              <a:buNone/>
              <a:defRPr sz="1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248754-B113-FB57-E1AB-242852B2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B08809-68D1-AB27-9D83-710DADCB8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39D39D-C408-5D15-B572-894F3EA29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7428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4DC715F-3C18-41D5-FB77-86F718007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71500"/>
            <a:ext cx="4916320" cy="200025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80335" y="1234282"/>
            <a:ext cx="7716857" cy="6092031"/>
          </a:xfrm>
        </p:spPr>
        <p:txBody>
          <a:bodyPr anchor="t"/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3500"/>
            </a:lvl2pPr>
            <a:lvl3pPr marL="1143000" indent="0">
              <a:buNone/>
              <a:defRPr sz="3000"/>
            </a:lvl3pPr>
            <a:lvl4pPr marL="1714500" indent="0">
              <a:buNone/>
              <a:defRPr sz="2500"/>
            </a:lvl4pPr>
            <a:lvl5pPr marL="2286000" indent="0">
              <a:buNone/>
              <a:defRPr sz="2500"/>
            </a:lvl5pPr>
            <a:lvl6pPr marL="2857500" indent="0">
              <a:buNone/>
              <a:defRPr sz="2500"/>
            </a:lvl6pPr>
            <a:lvl7pPr marL="3429000" indent="0">
              <a:buNone/>
              <a:defRPr sz="2500"/>
            </a:lvl7pPr>
            <a:lvl8pPr marL="4000500" indent="0">
              <a:buNone/>
              <a:defRPr sz="2500"/>
            </a:lvl8pPr>
            <a:lvl9pPr marL="4572000" indent="0">
              <a:buNone/>
              <a:defRPr sz="2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571750"/>
            <a:ext cx="4916320" cy="476448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1750"/>
            </a:lvl2pPr>
            <a:lvl3pPr marL="1143000" indent="0">
              <a:buNone/>
              <a:defRPr sz="1500"/>
            </a:lvl3pPr>
            <a:lvl4pPr marL="1714500" indent="0">
              <a:buNone/>
              <a:defRPr sz="1250"/>
            </a:lvl4pPr>
            <a:lvl5pPr marL="2286000" indent="0">
              <a:buNone/>
              <a:defRPr sz="1250"/>
            </a:lvl5pPr>
            <a:lvl6pPr marL="2857500" indent="0">
              <a:buNone/>
              <a:defRPr sz="1250"/>
            </a:lvl6pPr>
            <a:lvl7pPr marL="3429000" indent="0">
              <a:buNone/>
              <a:defRPr sz="1250"/>
            </a:lvl7pPr>
            <a:lvl8pPr marL="4000500" indent="0">
              <a:buNone/>
              <a:defRPr sz="1250"/>
            </a:lvl8pPr>
            <a:lvl9pPr marL="4572000" indent="0">
              <a:buNone/>
              <a:defRPr sz="12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EA120C-5A88-CD04-1E1B-93CC3D71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CF31AD4-0E67-6404-7759-A3BA3F95C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5A0CDC-1EBF-2AAE-7F90-3D6DFE03B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09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63576EC-6FF7-BB93-ABA3-E2BB6A28A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01AAC5D-8160-1AC3-A43C-CF33AFB17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6534DE-9AE8-2D2F-74AD-E12D256AA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8328143-9722-6B03-131F-EE063680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7859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3C54BE1-0467-9B95-16AF-8B788F976E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08397" y="456406"/>
            <a:ext cx="3286810" cy="7264798"/>
          </a:xfrm>
        </p:spPr>
        <p:txBody>
          <a:bodyPr vert="eaVert"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968" y="456406"/>
            <a:ext cx="9669889" cy="7264798"/>
          </a:xfrm>
        </p:spPr>
        <p:txBody>
          <a:bodyPr vert="eaVert"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6C7371-29F6-E448-22E8-528D9EAA3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691CB4-09CF-188F-8970-91E5657F5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E23D9E-B7AF-902C-2BF2-6EDDC2A0E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97189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37BC833-F95F-5E62-B7A8-3F41242568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1EB1F79-BC29-40B5-9FB6-2CA62A927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A3ECB0-8F4B-7311-3992-BB009E8F1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375E6C-02C0-8CB9-8057-51A6CC4BF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8851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C5B881A-7719-7EF7-180A-BC291204AD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207" y="243840"/>
            <a:ext cx="799709" cy="79716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E11F1-43FC-5FFF-8362-EFD6A9B0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</p:spPr>
        <p:txBody>
          <a:bodyPr/>
          <a:lstStyle>
            <a:lvl1pPr>
              <a:defRPr sz="1400"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9A9B7-C369-707F-3093-33F81EAD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9302" y="7945438"/>
            <a:ext cx="5144572" cy="456406"/>
          </a:xfrm>
        </p:spPr>
        <p:txBody>
          <a:bodyPr/>
          <a:lstStyle>
            <a:lvl1pPr>
              <a:defRPr sz="1400"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86E1-ABEC-7EF0-4E82-24CD5E20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5493" y="7945438"/>
            <a:ext cx="3429714" cy="456406"/>
          </a:xfrm>
        </p:spPr>
        <p:txBody>
          <a:bodyPr/>
          <a:lstStyle>
            <a:lvl1pPr>
              <a:defRPr sz="1400"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89642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6AF8FA-2E87-0B72-7769-59A9494A83A1}"/>
              </a:ext>
            </a:extLst>
          </p:cNvPr>
          <p:cNvGrpSpPr/>
          <p:nvPr userDrawn="1"/>
        </p:nvGrpSpPr>
        <p:grpSpPr>
          <a:xfrm>
            <a:off x="3205511" y="1385980"/>
            <a:ext cx="8832160" cy="6656808"/>
            <a:chOff x="2409289" y="1108784"/>
            <a:chExt cx="7064256" cy="5325446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C28BD2B-DA1B-FC70-97FE-CA7D0E4FB2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09289" y="1108784"/>
              <a:ext cx="7064256" cy="424604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69B6BE-D38B-9F30-5B9B-99F610C17448}"/>
                </a:ext>
              </a:extLst>
            </p:cNvPr>
            <p:cNvSpPr txBox="1"/>
            <p:nvPr userDrawn="1"/>
          </p:nvSpPr>
          <p:spPr>
            <a:xfrm>
              <a:off x="4659946" y="6014064"/>
              <a:ext cx="2562937" cy="420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13" dirty="0">
                  <a:solidFill>
                    <a:schemeClr val="bg1">
                      <a:lumMod val="50000"/>
                    </a:schemeClr>
                  </a:solidFill>
                </a:rPr>
                <a:t>remakerdigital.com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695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69B6BE-D38B-9F30-5B9B-99F610C17448}"/>
              </a:ext>
            </a:extLst>
          </p:cNvPr>
          <p:cNvSpPr txBox="1"/>
          <p:nvPr userDrawn="1"/>
        </p:nvSpPr>
        <p:spPr>
          <a:xfrm>
            <a:off x="6019418" y="7450146"/>
            <a:ext cx="3204339" cy="525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13" dirty="0">
                <a:solidFill>
                  <a:schemeClr val="bg1">
                    <a:lumMod val="50000"/>
                  </a:schemeClr>
                </a:solidFill>
              </a:rPr>
              <a:t>remakerdigital.com</a:t>
            </a:r>
          </a:p>
        </p:txBody>
      </p:sp>
      <p:pic>
        <p:nvPicPr>
          <p:cNvPr id="1026" name="Picture 2" descr="Agentblazer Legend">
            <a:extLst>
              <a:ext uri="{FF2B5EF4-FFF2-40B4-BE49-F238E27FC236}">
                <a16:creationId xmlns:a16="http://schemas.microsoft.com/office/drawing/2014/main" id="{30C6CF84-7855-C3C0-D994-DA64228F3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151" y="1276441"/>
            <a:ext cx="6020872" cy="601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45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4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2F8E673-6CA0-58A9-0EE0-D925FC310983}"/>
              </a:ext>
            </a:extLst>
          </p:cNvPr>
          <p:cNvSpPr/>
          <p:nvPr userDrawn="1"/>
        </p:nvSpPr>
        <p:spPr>
          <a:xfrm>
            <a:off x="1605155" y="1353356"/>
            <a:ext cx="5857856" cy="1330211"/>
          </a:xfrm>
          <a:prstGeom prst="rect">
            <a:avLst/>
          </a:prstGeom>
          <a:solidFill>
            <a:srgbClr val="535353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#535353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8C0B6C-1646-EC28-EC47-91A4A1AC96D2}"/>
              </a:ext>
            </a:extLst>
          </p:cNvPr>
          <p:cNvSpPr/>
          <p:nvPr userDrawn="1"/>
        </p:nvSpPr>
        <p:spPr>
          <a:xfrm>
            <a:off x="1605155" y="5888936"/>
            <a:ext cx="5857856" cy="1312843"/>
          </a:xfrm>
          <a:prstGeom prst="rect">
            <a:avLst/>
          </a:prstGeom>
          <a:solidFill>
            <a:srgbClr val="CC222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#CC2222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0210C0-03E8-9E9A-CBFC-638B0E62E3A0}"/>
              </a:ext>
            </a:extLst>
          </p:cNvPr>
          <p:cNvSpPr/>
          <p:nvPr userDrawn="1"/>
        </p:nvSpPr>
        <p:spPr>
          <a:xfrm>
            <a:off x="7780169" y="1370723"/>
            <a:ext cx="5857856" cy="2818460"/>
          </a:xfrm>
          <a:prstGeom prst="rect">
            <a:avLst/>
          </a:prstGeom>
          <a:solidFill>
            <a:srgbClr val="18232B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#18232B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D387C1-3847-8412-F82B-2A0C6751BB6B}"/>
              </a:ext>
            </a:extLst>
          </p:cNvPr>
          <p:cNvSpPr/>
          <p:nvPr userDrawn="1"/>
        </p:nvSpPr>
        <p:spPr>
          <a:xfrm>
            <a:off x="7780165" y="4400688"/>
            <a:ext cx="5857856" cy="2818460"/>
          </a:xfrm>
          <a:prstGeom prst="rect">
            <a:avLst/>
          </a:prstGeom>
          <a:solidFill>
            <a:srgbClr val="24334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#243340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07602-C5BA-DB4D-0EF9-586E4861B0A1}"/>
              </a:ext>
            </a:extLst>
          </p:cNvPr>
          <p:cNvSpPr/>
          <p:nvPr userDrawn="1"/>
        </p:nvSpPr>
        <p:spPr>
          <a:xfrm>
            <a:off x="1605155" y="2858972"/>
            <a:ext cx="5857856" cy="1330211"/>
          </a:xfrm>
          <a:prstGeom prst="rect">
            <a:avLst/>
          </a:prstGeom>
          <a:solidFill>
            <a:srgbClr val="95959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#959595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0CBF5C-6639-2835-4E7F-6928E023278B}"/>
              </a:ext>
            </a:extLst>
          </p:cNvPr>
          <p:cNvSpPr/>
          <p:nvPr userDrawn="1"/>
        </p:nvSpPr>
        <p:spPr>
          <a:xfrm>
            <a:off x="1605155" y="4383322"/>
            <a:ext cx="5857856" cy="1330211"/>
          </a:xfrm>
          <a:prstGeom prst="rect">
            <a:avLst/>
          </a:prstGeom>
          <a:solidFill>
            <a:srgbClr val="95959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#777777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1EE76B-BA9B-CE8C-6AA7-EA4B6177B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8E9DD76-74BE-A858-AC65-39C88E64CB34}"/>
              </a:ext>
            </a:extLst>
          </p:cNvPr>
          <p:cNvGrpSpPr/>
          <p:nvPr userDrawn="1"/>
        </p:nvGrpSpPr>
        <p:grpSpPr>
          <a:xfrm>
            <a:off x="1805796" y="-1"/>
            <a:ext cx="13437376" cy="8572501"/>
            <a:chOff x="1805796" y="-1"/>
            <a:chExt cx="13437376" cy="8572501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A876EEC8-B704-3472-83D0-F54B42809ED8}"/>
                </a:ext>
              </a:extLst>
            </p:cNvPr>
            <p:cNvSpPr/>
            <p:nvPr userDrawn="1"/>
          </p:nvSpPr>
          <p:spPr>
            <a:xfrm rot="10800000" flipV="1">
              <a:off x="1805796" y="-1"/>
              <a:ext cx="13437376" cy="8572500"/>
            </a:xfrm>
            <a:prstGeom prst="triangle">
              <a:avLst>
                <a:gd name="adj" fmla="val 0"/>
              </a:avLst>
            </a:prstGeom>
            <a:solidFill>
              <a:srgbClr val="212F3B">
                <a:alpha val="5607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3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DD5A15C-1684-5B07-0116-AE72680A438D}"/>
                </a:ext>
              </a:extLst>
            </p:cNvPr>
            <p:cNvSpPr/>
            <p:nvPr userDrawn="1"/>
          </p:nvSpPr>
          <p:spPr>
            <a:xfrm rot="10800000">
              <a:off x="6911396" y="0"/>
              <a:ext cx="8331775" cy="8572500"/>
            </a:xfrm>
            <a:prstGeom prst="triangle">
              <a:avLst>
                <a:gd name="adj" fmla="val 0"/>
              </a:avLst>
            </a:prstGeom>
            <a:solidFill>
              <a:srgbClr val="19242D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3" dirty="0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D4BCC30E-A57C-EC8C-0F1E-6F27CD2BCFE7}"/>
                </a:ext>
              </a:extLst>
            </p:cNvPr>
            <p:cNvSpPr/>
            <p:nvPr userDrawn="1"/>
          </p:nvSpPr>
          <p:spPr>
            <a:xfrm rot="10800000">
              <a:off x="11244478" y="0"/>
              <a:ext cx="3998689" cy="8572500"/>
            </a:xfrm>
            <a:prstGeom prst="triangle">
              <a:avLst>
                <a:gd name="adj" fmla="val 0"/>
              </a:avLst>
            </a:prstGeom>
            <a:solidFill>
              <a:srgbClr val="18232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3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7969" y="456407"/>
            <a:ext cx="13147238" cy="1656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7969" y="2282031"/>
            <a:ext cx="13147238" cy="5439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1/25/2026</a:t>
            </a:fld>
            <a:endParaRPr lang="en-US" sz="1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159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4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61" r:id="rId14"/>
    <p:sldLayoutId id="2147483662" r:id="rId15"/>
    <p:sldLayoutId id="2147483669" r:id="rId16"/>
    <p:sldLayoutId id="2147483670" r:id="rId17"/>
    <p:sldLayoutId id="2147483666" r:id="rId18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Michroma" pitchFamily="2" charset="0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814D8-9770-37AD-3012-9042D8C5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612E-5D2A-4A2F-84A3-470AE2D0F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/>
              <a:t>98% </a:t>
            </a:r>
            <a:r>
              <a:rPr lang="en-US" sz="5400" dirty="0"/>
              <a:t>faster 97% lower cost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A32C6-3E46-7C83-B0A3-292C1C930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200" dirty="0"/>
              <a:t>AIOps Automation with Claude Code</a:t>
            </a:r>
            <a:endParaRPr lang="en-US" spc="-3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B1F6269-1BCC-57C2-D4A3-ABB424094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0368" y="2663419"/>
            <a:ext cx="6137960" cy="345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07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449D-F654-DA6D-6D3B-00B1535E7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216CE5-5945-1846-63F7-8D278AEC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Agentic Principles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1FEA14-A03F-D9C8-ABF9-1912DE2AE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8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31F5-9FFA-58FC-3569-07814A62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Agent Architecture: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3CDCA-4DE5-34C3-4FCE-4B6044FA4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Intent Classification Agent:</a:t>
            </a:r>
          </a:p>
          <a:p>
            <a:pPr lvl="1">
              <a:spcAft>
                <a:spcPts val="1500"/>
              </a:spcAft>
              <a:buFont typeface="Grandview" panose="020B0502040204020203" pitchFamily="34" charset="0"/>
              <a:buChar char="―"/>
            </a:pPr>
            <a:r>
              <a:rPr lang="en-US" dirty="0"/>
              <a:t> Routes incoming requests to appropriate handlers</a:t>
            </a:r>
          </a:p>
          <a:p>
            <a:r>
              <a:rPr lang="en-US" dirty="0"/>
              <a:t>Knowledge Retrieval Agent:</a:t>
            </a:r>
          </a:p>
          <a:p>
            <a:pPr lvl="1">
              <a:spcAft>
                <a:spcPts val="1500"/>
              </a:spcAft>
              <a:buFont typeface="Grandview" panose="020B0502040204020203" pitchFamily="34" charset="0"/>
              <a:buChar char="―"/>
            </a:pPr>
            <a:r>
              <a:rPr lang="en-US" dirty="0"/>
              <a:t> Searches internal documentation and knowledge bases</a:t>
            </a:r>
          </a:p>
          <a:p>
            <a:r>
              <a:rPr lang="en-US" dirty="0"/>
              <a:t>Response Generation Agent:</a:t>
            </a:r>
          </a:p>
          <a:p>
            <a:pPr lvl="1">
              <a:spcAft>
                <a:spcPts val="1500"/>
              </a:spcAft>
              <a:buFont typeface="Grandview" panose="020B0502040204020203" pitchFamily="34" charset="0"/>
              <a:buChar char="―"/>
            </a:pPr>
            <a:r>
              <a:rPr lang="en-US" dirty="0"/>
              <a:t> Crafts contextually appropriate responses</a:t>
            </a:r>
          </a:p>
          <a:p>
            <a:r>
              <a:rPr lang="en-US" dirty="0"/>
              <a:t>Escalation Agent:</a:t>
            </a:r>
          </a:p>
          <a:p>
            <a:pPr lvl="1">
              <a:spcAft>
                <a:spcPts val="1500"/>
              </a:spcAft>
              <a:buFont typeface="Grandview" panose="020B0502040204020203" pitchFamily="34" charset="0"/>
              <a:buChar char="―"/>
            </a:pPr>
            <a:r>
              <a:rPr lang="en-US" dirty="0"/>
              <a:t> Identifies cases requiring human intervention</a:t>
            </a:r>
          </a:p>
          <a:p>
            <a:r>
              <a:rPr lang="en-US" dirty="0"/>
              <a:t>Analytics Agent:</a:t>
            </a:r>
          </a:p>
          <a:p>
            <a:pPr lvl="1">
              <a:spcAft>
                <a:spcPts val="1500"/>
              </a:spcAft>
              <a:buFont typeface="Grandview" panose="020B0502040204020203" pitchFamily="34" charset="0"/>
              <a:buChar char="―"/>
            </a:pPr>
            <a:r>
              <a:rPr lang="en-US" dirty="0"/>
              <a:t> Monitors performance and identifies improvement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00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CCF7-FD48-F4B4-84D3-8C975709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0A85-75CB-4043-5A97-79BCCA06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Technical Requirements: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7F5E6-7DCD-2D6B-D840-26C36CEB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750"/>
              </a:spcAft>
            </a:pPr>
            <a:r>
              <a:rPr lang="en-US" dirty="0"/>
              <a:t>Real-time processing with sub-second latency</a:t>
            </a:r>
          </a:p>
          <a:p>
            <a:pPr>
              <a:spcAft>
                <a:spcPts val="750"/>
              </a:spcAft>
            </a:pPr>
            <a:r>
              <a:rPr lang="en-US" dirty="0"/>
              <a:t>Scalable to handle 10,000+ concurrent conversations</a:t>
            </a:r>
          </a:p>
          <a:p>
            <a:pPr>
              <a:spcAft>
                <a:spcPts val="750"/>
              </a:spcAft>
            </a:pPr>
            <a:r>
              <a:rPr lang="en-US" dirty="0"/>
              <a:t>Integration with existing Azure infrastructure</a:t>
            </a:r>
          </a:p>
          <a:p>
            <a:pPr>
              <a:spcAft>
                <a:spcPts val="750"/>
              </a:spcAft>
            </a:pPr>
            <a:r>
              <a:rPr lang="en-US" dirty="0"/>
              <a:t>Compliance with SOC 2 and GDPR requirements</a:t>
            </a:r>
          </a:p>
          <a:p>
            <a:pPr>
              <a:spcAft>
                <a:spcPts val="750"/>
              </a:spcAft>
            </a:pPr>
            <a:r>
              <a:rPr lang="en-US" dirty="0"/>
              <a:t>Zero-downtime deployments</a:t>
            </a:r>
          </a:p>
          <a:p>
            <a:pPr>
              <a:spcAft>
                <a:spcPts val="750"/>
              </a:spcAft>
            </a:pPr>
            <a:r>
              <a:rPr lang="en-US" dirty="0"/>
              <a:t>Comprehensive observability and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9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2825-2108-4112-5866-FBB86E63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7F8-B0EA-620C-0060-65AC185E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Non-Functional Requirements: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21C3E-D783-898B-55ED-A602D471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750"/>
              </a:spcAft>
            </a:pPr>
            <a:r>
              <a:rPr lang="en-US" dirty="0"/>
              <a:t>Development velocity: Deploy new features weekly</a:t>
            </a:r>
          </a:p>
          <a:p>
            <a:pPr>
              <a:spcAft>
                <a:spcPts val="750"/>
              </a:spcAft>
            </a:pPr>
            <a:r>
              <a:rPr lang="en-US" dirty="0"/>
              <a:t>Cost optimization: Stay within $5,000/month Azure budget</a:t>
            </a:r>
          </a:p>
          <a:p>
            <a:pPr>
              <a:spcAft>
                <a:spcPts val="750"/>
              </a:spcAft>
            </a:pPr>
            <a:r>
              <a:rPr lang="en-US" dirty="0"/>
              <a:t>Team efficiency: Enable all three engineers to contribute regardless of DevOps expertise</a:t>
            </a:r>
          </a:p>
          <a:p>
            <a:pPr>
              <a:spcAft>
                <a:spcPts val="750"/>
              </a:spcAft>
            </a:pPr>
            <a:r>
              <a:rPr lang="en-US" dirty="0"/>
              <a:t>Disaster recovery: RPO &lt; 1 hour, RTO &lt; 4 hours</a:t>
            </a:r>
          </a:p>
          <a:p>
            <a:pPr>
              <a:spcAft>
                <a:spcPts val="750"/>
              </a:spcAft>
            </a:pPr>
            <a:r>
              <a:rPr lang="en-US" dirty="0"/>
              <a:t>Security: Encryption at rest and in transit, zero-trust architecture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90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20CB8-CA7A-0CB7-B3CE-BC0A7512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E257-DAEA-454F-34BA-DBBCF642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Expectations: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A2FD6-EF05-9DB0-6F24-C148DB54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37" y="2282033"/>
            <a:ext cx="13144500" cy="5523824"/>
          </a:xfrm>
        </p:spPr>
        <p:txBody>
          <a:bodyPr>
            <a:normAutofit/>
          </a:bodyPr>
          <a:lstStyle/>
          <a:p>
            <a:pPr>
              <a:spcAft>
                <a:spcPts val="1500"/>
              </a:spcAft>
            </a:pPr>
            <a:r>
              <a:rPr lang="en-US" dirty="0"/>
              <a:t>Claude Code transforms natural language requirements into production-ready Terraform configurations</a:t>
            </a:r>
          </a:p>
          <a:p>
            <a:pPr>
              <a:spcAft>
                <a:spcPts val="1500"/>
              </a:spcAft>
            </a:pPr>
            <a:r>
              <a:rPr lang="en-US" dirty="0"/>
              <a:t>Containerization with Docker Desktop provides consistency across development, staging, and production</a:t>
            </a:r>
          </a:p>
          <a:p>
            <a:pPr>
              <a:spcAft>
                <a:spcPts val="1500"/>
              </a:spcAft>
            </a:pPr>
            <a:r>
              <a:rPr lang="en-US" dirty="0"/>
              <a:t>Git-based workflows with GitHub Desktop enable collaborative development without CLI complexity</a:t>
            </a:r>
          </a:p>
          <a:p>
            <a:pPr>
              <a:spcAft>
                <a:spcPts val="1500"/>
              </a:spcAft>
            </a:pPr>
            <a:r>
              <a:rPr lang="en-US" dirty="0"/>
              <a:t>Terraform automation on Azure eliminates manual infrastructure management</a:t>
            </a:r>
          </a:p>
        </p:txBody>
      </p:sp>
    </p:spTree>
    <p:extLst>
      <p:ext uri="{BB962C8B-B14F-4D97-AF65-F5344CB8AC3E}">
        <p14:creationId xmlns:p14="http://schemas.microsoft.com/office/powerpoint/2010/main" val="119732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>
          <a:extLst>
            <a:ext uri="{FF2B5EF4-FFF2-40B4-BE49-F238E27FC236}">
              <a16:creationId xmlns:a16="http://schemas.microsoft.com/office/drawing/2014/main" id="{B5204EF5-99DC-37A0-7AB0-F44304D2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15">
            <a:extLst>
              <a:ext uri="{FF2B5EF4-FFF2-40B4-BE49-F238E27FC236}">
                <a16:creationId xmlns:a16="http://schemas.microsoft.com/office/drawing/2014/main" id="{C110E616-7F86-BBB8-1BD9-0C4D885C60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937" y="443709"/>
            <a:ext cx="13144500" cy="1656954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en" sz="4500" dirty="0"/>
              <a:t>Azure + Databricks</a:t>
            </a:r>
            <a:endParaRPr sz="4500" dirty="0"/>
          </a:p>
        </p:txBody>
      </p:sp>
      <p:sp>
        <p:nvSpPr>
          <p:cNvPr id="790" name="Google Shape;790;p115">
            <a:extLst>
              <a:ext uri="{FF2B5EF4-FFF2-40B4-BE49-F238E27FC236}">
                <a16:creationId xmlns:a16="http://schemas.microsoft.com/office/drawing/2014/main" id="{5E6C10BB-292B-815D-D271-F757CDB6193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FCD7BD-C9AF-F93F-AEC5-0D163800F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022287"/>
              </p:ext>
            </p:extLst>
          </p:nvPr>
        </p:nvGraphicFramePr>
        <p:xfrm>
          <a:off x="1025691" y="2316239"/>
          <a:ext cx="13510180" cy="51308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090">
                  <a:extLst>
                    <a:ext uri="{9D8B030D-6E8A-4147-A177-3AD203B41FA5}">
                      <a16:colId xmlns:a16="http://schemas.microsoft.com/office/drawing/2014/main" val="2577128146"/>
                    </a:ext>
                  </a:extLst>
                </a:gridCol>
                <a:gridCol w="5312351">
                  <a:extLst>
                    <a:ext uri="{9D8B030D-6E8A-4147-A177-3AD203B41FA5}">
                      <a16:colId xmlns:a16="http://schemas.microsoft.com/office/drawing/2014/main" val="889207935"/>
                    </a:ext>
                  </a:extLst>
                </a:gridCol>
                <a:gridCol w="4870739">
                  <a:extLst>
                    <a:ext uri="{9D8B030D-6E8A-4147-A177-3AD203B41FA5}">
                      <a16:colId xmlns:a16="http://schemas.microsoft.com/office/drawing/2014/main" val="566751064"/>
                    </a:ext>
                  </a:extLst>
                </a:gridCol>
              </a:tblGrid>
              <a:tr h="74936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500" dirty="0">
                        <a:solidFill>
                          <a:schemeClr val="bg1"/>
                        </a:solidFill>
                        <a:latin typeface="DM Sans Medium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en-US" sz="2500" dirty="0">
                        <a:solidFill>
                          <a:srgbClr val="0B2026"/>
                        </a:solidFill>
                        <a:latin typeface="DM Sans Medium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en-US" sz="2500" dirty="0">
                        <a:solidFill>
                          <a:schemeClr val="bg1"/>
                        </a:solidFill>
                        <a:latin typeface="DM Sans Medium" pitchFamily="2" charset="0"/>
                      </a:endParaRP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717176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5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Role</a:t>
                      </a:r>
                    </a:p>
                  </a:txBody>
                  <a:tcPr marL="0" marR="342900" marT="2286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EDE9"/>
                        </a:buClr>
                        <a:buSzTx/>
                        <a:buFont typeface="DM Sans" pitchFamily="2" charset="0"/>
                        <a:buChar char="—"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Modular services for storage, compute, and agentic orchestration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Unified platform for data engineering, ML, and analytics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130005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5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Abstraction</a:t>
                      </a:r>
                    </a:p>
                  </a:txBody>
                  <a:tcPr marL="0" marR="342900" marT="2286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Low-level control over services like Synapse, ADLS, ADF, etc.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High-level, managed Spark + Delta Lake + </a:t>
                      </a:r>
                      <a:r>
                        <a:rPr lang="en-US" sz="2100" dirty="0" err="1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MLflow</a:t>
                      </a:r>
                      <a:endParaRPr lang="en-US" sz="2100" dirty="0">
                        <a:solidFill>
                          <a:schemeClr val="bg1"/>
                        </a:solidFill>
                        <a:latin typeface="DM Sans" pitchFamily="2" charset="0"/>
                      </a:endParaRP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1948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5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User</a:t>
                      </a:r>
                    </a:p>
                  </a:txBody>
                  <a:tcPr marL="0" marR="342900" marT="2286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Agent developer and UI integration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Data engineering and data science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0888327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5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Performance Tuning</a:t>
                      </a:r>
                    </a:p>
                  </a:txBody>
                  <a:tcPr marL="0" marR="342900" marT="2286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Manual tuning of Synapse, Spark pools, or VMs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Auto-optimized clusters, Photon engine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146467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5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Governance</a:t>
                      </a:r>
                    </a:p>
                  </a:txBody>
                  <a:tcPr marL="0" marR="342900" marT="2286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Azure Purview, RBAC, and custom metadata solutions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EEDE9"/>
                        </a:buClr>
                        <a:buFont typeface="DM Sans" pitchFamily="2" charset="0"/>
                        <a:buChar char="—"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DM Sans" pitchFamily="2" charset="0"/>
                        </a:rPr>
                        <a:t>Unity Catalog, RBAC, lineage tracking integrated with Entra ID</a:t>
                      </a:r>
                    </a:p>
                  </a:txBody>
                  <a:tcPr marL="114300" marR="342900" marT="22860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5767101"/>
                  </a:ext>
                </a:extLst>
              </a:tr>
            </a:tbl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F308839E-3BC9-B6F8-4CF2-DF63D62AB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5593" y="1794051"/>
            <a:ext cx="1642545" cy="146004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409CC5C-5ACE-3D8C-4658-580BAB22BA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14511" y="1964839"/>
            <a:ext cx="904794" cy="98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3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159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5230</TotalTime>
  <Words>425</Words>
  <Application>Microsoft Office PowerPoint</Application>
  <PresentationFormat>Custom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Montserrat</vt:lpstr>
      <vt:lpstr>Grandview</vt:lpstr>
      <vt:lpstr>Arial</vt:lpstr>
      <vt:lpstr>Aptos</vt:lpstr>
      <vt:lpstr>DM Sans Medium</vt:lpstr>
      <vt:lpstr>DM Sans</vt:lpstr>
      <vt:lpstr>Michroma</vt:lpstr>
      <vt:lpstr>Office Theme</vt:lpstr>
      <vt:lpstr>98% faster 97% lower cost</vt:lpstr>
      <vt:lpstr>Agentic Principles</vt:lpstr>
      <vt:lpstr>Agent Architecture:</vt:lpstr>
      <vt:lpstr>Technical Requirements:</vt:lpstr>
      <vt:lpstr>Non-Functional Requirements:</vt:lpstr>
      <vt:lpstr>Expectations:</vt:lpstr>
      <vt:lpstr>Azure + Databricks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Palmeter</dc:creator>
  <cp:lastModifiedBy>Michael Palmeter</cp:lastModifiedBy>
  <cp:revision>4</cp:revision>
  <dcterms:created xsi:type="dcterms:W3CDTF">2025-08-28T16:30:02Z</dcterms:created>
  <dcterms:modified xsi:type="dcterms:W3CDTF">2026-01-25T18:42:47Z</dcterms:modified>
</cp:coreProperties>
</file>